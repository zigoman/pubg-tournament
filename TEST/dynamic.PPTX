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56" r:id="rId2"/>
    <p:sldId id="322" r:id="rId3"/>
    <p:sldId id="284" r:id="rId4"/>
    <p:sldId id="357" r:id="rId5"/>
    <p:sldId id="358" r:id="rId6"/>
    <p:sldId id="360" r:id="rId7"/>
    <p:sldId id="361" r:id="rId8"/>
    <p:sldId id="362" r:id="rId9"/>
  </p:sldIdLst>
  <p:sldSz cx="9144000" cy="5143500" type="screen16x9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25252"/>
    <a:srgbClr val="FFFFFF"/>
    <a:srgbClr val="323232"/>
    <a:srgbClr val="B2B2B2"/>
    <a:srgbClr val="EAEAEA"/>
    <a:srgbClr val="969696"/>
    <a:srgbClr val="111111"/>
    <a:srgbClr val="212121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4629" autoAdjust="0"/>
  </p:normalViewPr>
  <p:slideViewPr>
    <p:cSldViewPr showGuides="1">
      <p:cViewPr>
        <p:scale>
          <a:sx n="150" d="100"/>
          <a:sy n="150" d="100"/>
        </p:scale>
        <p:origin x="-72" y="252"/>
      </p:cViewPr>
      <p:guideLst>
        <p:guide orient="horz" pos="1620"/>
        <p:guide orient="horz" pos="2890"/>
        <p:guide orient="horz" pos="758"/>
        <p:guide pos="2880"/>
        <p:guide pos="295"/>
        <p:guide pos="5465"/>
      </p:guideLst>
    </p:cSldViewPr>
  </p:slideViewPr>
  <p:outlineViewPr>
    <p:cViewPr>
      <p:scale>
        <a:sx n="33" d="100"/>
        <a:sy n="33" d="100"/>
      </p:scale>
      <p:origin x="36" y="16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C47ED-BCED-447B-976C-9F62F89F0395}" type="datetimeFigureOut">
              <a:rPr lang="uk-UA" smtClean="0"/>
              <a:t>23.10.2017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8A809-437D-4988-93A0-22C45D92B2D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168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8A809-437D-4988-93A0-22C45D92B2DE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9277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-1"/>
            <a:ext cx="9144000" cy="5143500"/>
          </a:xfrm>
          <a:prstGeom prst="rect">
            <a:avLst/>
          </a:prstGeom>
          <a:noFill/>
          <a:ln>
            <a:noFill/>
          </a:ln>
          <a:effectLst>
            <a:outerShdw blurRad="25400" dist="12700" dir="5400000" algn="tl" rotWithShape="0">
              <a:prstClr val="black">
                <a:alpha val="2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75856" y="2036680"/>
            <a:ext cx="4966320" cy="679086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 smtClean="0"/>
              <a:t>PowerPoint</a:t>
            </a:r>
            <a:endParaRPr lang="uk-U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5856" y="2715766"/>
            <a:ext cx="4968552" cy="720080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uk-UA"/>
          </a:p>
        </p:txBody>
      </p:sp>
      <p:sp>
        <p:nvSpPr>
          <p:cNvPr id="8" name="Oval 7"/>
          <p:cNvSpPr/>
          <p:nvPr userDrawn="1"/>
        </p:nvSpPr>
        <p:spPr>
          <a:xfrm>
            <a:off x="1427644" y="1746210"/>
            <a:ext cx="1781604" cy="178160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" dist="12700" dir="54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9" name="Freeform 558"/>
          <p:cNvSpPr>
            <a:spLocks noEditPoints="1"/>
          </p:cNvSpPr>
          <p:nvPr userDrawn="1"/>
        </p:nvSpPr>
        <p:spPr bwMode="auto">
          <a:xfrm>
            <a:off x="1674035" y="2364739"/>
            <a:ext cx="1288822" cy="568610"/>
          </a:xfrm>
          <a:custGeom>
            <a:avLst/>
            <a:gdLst>
              <a:gd name="T0" fmla="*/ 318 w 400"/>
              <a:gd name="T1" fmla="*/ 0 h 176"/>
              <a:gd name="T2" fmla="*/ 200 w 400"/>
              <a:gd name="T3" fmla="*/ 58 h 176"/>
              <a:gd name="T4" fmla="*/ 82 w 400"/>
              <a:gd name="T5" fmla="*/ 0 h 176"/>
              <a:gd name="T6" fmla="*/ 0 w 400"/>
              <a:gd name="T7" fmla="*/ 88 h 176"/>
              <a:gd name="T8" fmla="*/ 82 w 400"/>
              <a:gd name="T9" fmla="*/ 176 h 176"/>
              <a:gd name="T10" fmla="*/ 82 w 400"/>
              <a:gd name="T11" fmla="*/ 176 h 176"/>
              <a:gd name="T12" fmla="*/ 200 w 400"/>
              <a:gd name="T13" fmla="*/ 118 h 176"/>
              <a:gd name="T14" fmla="*/ 318 w 400"/>
              <a:gd name="T15" fmla="*/ 176 h 176"/>
              <a:gd name="T16" fmla="*/ 400 w 400"/>
              <a:gd name="T17" fmla="*/ 88 h 176"/>
              <a:gd name="T18" fmla="*/ 318 w 400"/>
              <a:gd name="T19" fmla="*/ 0 h 176"/>
              <a:gd name="T20" fmla="*/ 82 w 400"/>
              <a:gd name="T21" fmla="*/ 141 h 176"/>
              <a:gd name="T22" fmla="*/ 36 w 400"/>
              <a:gd name="T23" fmla="*/ 88 h 176"/>
              <a:gd name="T24" fmla="*/ 82 w 400"/>
              <a:gd name="T25" fmla="*/ 35 h 176"/>
              <a:gd name="T26" fmla="*/ 178 w 400"/>
              <a:gd name="T27" fmla="*/ 88 h 176"/>
              <a:gd name="T28" fmla="*/ 82 w 400"/>
              <a:gd name="T29" fmla="*/ 141 h 176"/>
              <a:gd name="T30" fmla="*/ 318 w 400"/>
              <a:gd name="T31" fmla="*/ 141 h 176"/>
              <a:gd name="T32" fmla="*/ 222 w 400"/>
              <a:gd name="T33" fmla="*/ 88 h 176"/>
              <a:gd name="T34" fmla="*/ 318 w 400"/>
              <a:gd name="T35" fmla="*/ 35 h 176"/>
              <a:gd name="T36" fmla="*/ 363 w 400"/>
              <a:gd name="T37" fmla="*/ 88 h 176"/>
              <a:gd name="T38" fmla="*/ 318 w 400"/>
              <a:gd name="T39" fmla="*/ 141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00" h="176">
                <a:moveTo>
                  <a:pt x="318" y="0"/>
                </a:moveTo>
                <a:cubicBezTo>
                  <a:pt x="276" y="0"/>
                  <a:pt x="231" y="23"/>
                  <a:pt x="200" y="58"/>
                </a:cubicBezTo>
                <a:cubicBezTo>
                  <a:pt x="169" y="23"/>
                  <a:pt x="123" y="0"/>
                  <a:pt x="82" y="0"/>
                </a:cubicBezTo>
                <a:cubicBezTo>
                  <a:pt x="42" y="0"/>
                  <a:pt x="0" y="23"/>
                  <a:pt x="0" y="88"/>
                </a:cubicBezTo>
                <a:cubicBezTo>
                  <a:pt x="0" y="153"/>
                  <a:pt x="42" y="176"/>
                  <a:pt x="82" y="176"/>
                </a:cubicBezTo>
                <a:cubicBezTo>
                  <a:pt x="82" y="176"/>
                  <a:pt x="82" y="176"/>
                  <a:pt x="82" y="176"/>
                </a:cubicBezTo>
                <a:cubicBezTo>
                  <a:pt x="123" y="176"/>
                  <a:pt x="169" y="153"/>
                  <a:pt x="200" y="118"/>
                </a:cubicBezTo>
                <a:cubicBezTo>
                  <a:pt x="231" y="153"/>
                  <a:pt x="276" y="176"/>
                  <a:pt x="318" y="176"/>
                </a:cubicBezTo>
                <a:cubicBezTo>
                  <a:pt x="357" y="176"/>
                  <a:pt x="400" y="153"/>
                  <a:pt x="400" y="88"/>
                </a:cubicBezTo>
                <a:cubicBezTo>
                  <a:pt x="400" y="23"/>
                  <a:pt x="357" y="0"/>
                  <a:pt x="318" y="0"/>
                </a:cubicBezTo>
                <a:close/>
                <a:moveTo>
                  <a:pt x="82" y="141"/>
                </a:moveTo>
                <a:cubicBezTo>
                  <a:pt x="51" y="141"/>
                  <a:pt x="36" y="123"/>
                  <a:pt x="36" y="88"/>
                </a:cubicBezTo>
                <a:cubicBezTo>
                  <a:pt x="36" y="53"/>
                  <a:pt x="51" y="35"/>
                  <a:pt x="82" y="35"/>
                </a:cubicBezTo>
                <a:cubicBezTo>
                  <a:pt x="115" y="35"/>
                  <a:pt x="154" y="57"/>
                  <a:pt x="178" y="88"/>
                </a:cubicBezTo>
                <a:cubicBezTo>
                  <a:pt x="154" y="119"/>
                  <a:pt x="115" y="141"/>
                  <a:pt x="82" y="141"/>
                </a:cubicBezTo>
                <a:close/>
                <a:moveTo>
                  <a:pt x="318" y="141"/>
                </a:moveTo>
                <a:cubicBezTo>
                  <a:pt x="284" y="141"/>
                  <a:pt x="246" y="119"/>
                  <a:pt x="222" y="88"/>
                </a:cubicBezTo>
                <a:cubicBezTo>
                  <a:pt x="246" y="57"/>
                  <a:pt x="284" y="35"/>
                  <a:pt x="318" y="35"/>
                </a:cubicBezTo>
                <a:cubicBezTo>
                  <a:pt x="348" y="35"/>
                  <a:pt x="363" y="53"/>
                  <a:pt x="363" y="88"/>
                </a:cubicBezTo>
                <a:cubicBezTo>
                  <a:pt x="363" y="123"/>
                  <a:pt x="348" y="141"/>
                  <a:pt x="318" y="141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6" name="Freeform 558"/>
          <p:cNvSpPr>
            <a:spLocks noEditPoints="1"/>
          </p:cNvSpPr>
          <p:nvPr userDrawn="1"/>
        </p:nvSpPr>
        <p:spPr bwMode="auto">
          <a:xfrm>
            <a:off x="1674035" y="2352707"/>
            <a:ext cx="1288822" cy="568610"/>
          </a:xfrm>
          <a:custGeom>
            <a:avLst/>
            <a:gdLst>
              <a:gd name="T0" fmla="*/ 318 w 400"/>
              <a:gd name="T1" fmla="*/ 0 h 176"/>
              <a:gd name="T2" fmla="*/ 200 w 400"/>
              <a:gd name="T3" fmla="*/ 58 h 176"/>
              <a:gd name="T4" fmla="*/ 82 w 400"/>
              <a:gd name="T5" fmla="*/ 0 h 176"/>
              <a:gd name="T6" fmla="*/ 0 w 400"/>
              <a:gd name="T7" fmla="*/ 88 h 176"/>
              <a:gd name="T8" fmla="*/ 82 w 400"/>
              <a:gd name="T9" fmla="*/ 176 h 176"/>
              <a:gd name="T10" fmla="*/ 82 w 400"/>
              <a:gd name="T11" fmla="*/ 176 h 176"/>
              <a:gd name="T12" fmla="*/ 200 w 400"/>
              <a:gd name="T13" fmla="*/ 118 h 176"/>
              <a:gd name="T14" fmla="*/ 318 w 400"/>
              <a:gd name="T15" fmla="*/ 176 h 176"/>
              <a:gd name="T16" fmla="*/ 400 w 400"/>
              <a:gd name="T17" fmla="*/ 88 h 176"/>
              <a:gd name="T18" fmla="*/ 318 w 400"/>
              <a:gd name="T19" fmla="*/ 0 h 176"/>
              <a:gd name="T20" fmla="*/ 82 w 400"/>
              <a:gd name="T21" fmla="*/ 141 h 176"/>
              <a:gd name="T22" fmla="*/ 36 w 400"/>
              <a:gd name="T23" fmla="*/ 88 h 176"/>
              <a:gd name="T24" fmla="*/ 82 w 400"/>
              <a:gd name="T25" fmla="*/ 35 h 176"/>
              <a:gd name="T26" fmla="*/ 178 w 400"/>
              <a:gd name="T27" fmla="*/ 88 h 176"/>
              <a:gd name="T28" fmla="*/ 82 w 400"/>
              <a:gd name="T29" fmla="*/ 141 h 176"/>
              <a:gd name="T30" fmla="*/ 318 w 400"/>
              <a:gd name="T31" fmla="*/ 141 h 176"/>
              <a:gd name="T32" fmla="*/ 222 w 400"/>
              <a:gd name="T33" fmla="*/ 88 h 176"/>
              <a:gd name="T34" fmla="*/ 318 w 400"/>
              <a:gd name="T35" fmla="*/ 35 h 176"/>
              <a:gd name="T36" fmla="*/ 363 w 400"/>
              <a:gd name="T37" fmla="*/ 88 h 176"/>
              <a:gd name="T38" fmla="*/ 318 w 400"/>
              <a:gd name="T39" fmla="*/ 141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00" h="176">
                <a:moveTo>
                  <a:pt x="318" y="0"/>
                </a:moveTo>
                <a:cubicBezTo>
                  <a:pt x="276" y="0"/>
                  <a:pt x="231" y="23"/>
                  <a:pt x="200" y="58"/>
                </a:cubicBezTo>
                <a:cubicBezTo>
                  <a:pt x="169" y="23"/>
                  <a:pt x="123" y="0"/>
                  <a:pt x="82" y="0"/>
                </a:cubicBezTo>
                <a:cubicBezTo>
                  <a:pt x="42" y="0"/>
                  <a:pt x="0" y="23"/>
                  <a:pt x="0" y="88"/>
                </a:cubicBezTo>
                <a:cubicBezTo>
                  <a:pt x="0" y="153"/>
                  <a:pt x="42" y="176"/>
                  <a:pt x="82" y="176"/>
                </a:cubicBezTo>
                <a:cubicBezTo>
                  <a:pt x="82" y="176"/>
                  <a:pt x="82" y="176"/>
                  <a:pt x="82" y="176"/>
                </a:cubicBezTo>
                <a:cubicBezTo>
                  <a:pt x="123" y="176"/>
                  <a:pt x="169" y="153"/>
                  <a:pt x="200" y="118"/>
                </a:cubicBezTo>
                <a:cubicBezTo>
                  <a:pt x="231" y="153"/>
                  <a:pt x="276" y="176"/>
                  <a:pt x="318" y="176"/>
                </a:cubicBezTo>
                <a:cubicBezTo>
                  <a:pt x="357" y="176"/>
                  <a:pt x="400" y="153"/>
                  <a:pt x="400" y="88"/>
                </a:cubicBezTo>
                <a:cubicBezTo>
                  <a:pt x="400" y="23"/>
                  <a:pt x="357" y="0"/>
                  <a:pt x="318" y="0"/>
                </a:cubicBezTo>
                <a:close/>
                <a:moveTo>
                  <a:pt x="82" y="141"/>
                </a:moveTo>
                <a:cubicBezTo>
                  <a:pt x="51" y="141"/>
                  <a:pt x="36" y="123"/>
                  <a:pt x="36" y="88"/>
                </a:cubicBezTo>
                <a:cubicBezTo>
                  <a:pt x="36" y="53"/>
                  <a:pt x="51" y="35"/>
                  <a:pt x="82" y="35"/>
                </a:cubicBezTo>
                <a:cubicBezTo>
                  <a:pt x="115" y="35"/>
                  <a:pt x="154" y="57"/>
                  <a:pt x="178" y="88"/>
                </a:cubicBezTo>
                <a:cubicBezTo>
                  <a:pt x="154" y="119"/>
                  <a:pt x="115" y="141"/>
                  <a:pt x="82" y="141"/>
                </a:cubicBezTo>
                <a:close/>
                <a:moveTo>
                  <a:pt x="318" y="141"/>
                </a:moveTo>
                <a:cubicBezTo>
                  <a:pt x="284" y="141"/>
                  <a:pt x="246" y="119"/>
                  <a:pt x="222" y="88"/>
                </a:cubicBezTo>
                <a:cubicBezTo>
                  <a:pt x="246" y="57"/>
                  <a:pt x="284" y="35"/>
                  <a:pt x="318" y="35"/>
                </a:cubicBezTo>
                <a:cubicBezTo>
                  <a:pt x="348" y="35"/>
                  <a:pt x="363" y="53"/>
                  <a:pt x="363" y="88"/>
                </a:cubicBezTo>
                <a:cubicBezTo>
                  <a:pt x="363" y="123"/>
                  <a:pt x="348" y="141"/>
                  <a:pt x="318" y="14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127331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3325"/>
            <a:ext cx="8229600" cy="33912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k-UA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00658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accent3"/>
                </a:solidFill>
              </a:rPr>
              <a:t>COMPANY</a:t>
            </a:r>
            <a:r>
              <a:rPr lang="en-US" dirty="0" err="1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038224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3900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0" y="-1"/>
            <a:ext cx="9144000" cy="5143500"/>
          </a:xfrm>
          <a:prstGeom prst="rect">
            <a:avLst/>
          </a:prstGeom>
          <a:noFill/>
          <a:ln>
            <a:noFill/>
          </a:ln>
          <a:effectLst>
            <a:outerShdw blurRad="25400" dist="12700" dir="5400000" algn="tl" rotWithShape="0">
              <a:prstClr val="black">
                <a:alpha val="21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38823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96422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Rectangle 7"/>
          <p:cNvSpPr/>
          <p:nvPr userDrawn="1"/>
        </p:nvSpPr>
        <p:spPr>
          <a:xfrm>
            <a:off x="-18130" y="4399183"/>
            <a:ext cx="9162130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0" y="771550"/>
            <a:ext cx="9144000" cy="3627633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9817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68313" y="4083918"/>
            <a:ext cx="4464050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8313" y="1707654"/>
            <a:ext cx="4464050" cy="2375892"/>
          </a:xfrm>
        </p:spPr>
        <p:txBody>
          <a:bodyPr/>
          <a:lstStyle/>
          <a:p>
            <a:endParaRPr lang="uk-UA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5292080" y="2211710"/>
            <a:ext cx="3383608" cy="187292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5292271" y="1708150"/>
            <a:ext cx="3383417" cy="3587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03261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50182" y="2859782"/>
            <a:ext cx="822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50182" y="1203325"/>
            <a:ext cx="8225506" cy="1656457"/>
          </a:xfrm>
        </p:spPr>
        <p:txBody>
          <a:bodyPr/>
          <a:lstStyle/>
          <a:p>
            <a:endParaRPr lang="uk-UA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468312" y="3651411"/>
            <a:ext cx="8207375" cy="936464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468504" y="3147851"/>
            <a:ext cx="4463859" cy="3587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469397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8130" y="4399183"/>
            <a:ext cx="9162130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0" y="1203325"/>
            <a:ext cx="9144000" cy="3195858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0021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788024" y="2859782"/>
            <a:ext cx="3887664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788024" y="1203325"/>
            <a:ext cx="3887664" cy="1656457"/>
          </a:xfrm>
        </p:spPr>
        <p:txBody>
          <a:bodyPr/>
          <a:lstStyle/>
          <a:p>
            <a:endParaRPr lang="uk-UA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468313" y="1685251"/>
            <a:ext cx="3959671" cy="290262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468505" y="1181692"/>
            <a:ext cx="3959480" cy="3587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2" name="Content Placeholder 6"/>
          <p:cNvSpPr>
            <a:spLocks noGrp="1"/>
          </p:cNvSpPr>
          <p:nvPr>
            <p:ph sz="quarter" idx="21"/>
          </p:nvPr>
        </p:nvSpPr>
        <p:spPr>
          <a:xfrm>
            <a:off x="4788024" y="3219822"/>
            <a:ext cx="3885956" cy="1368052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1166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68313" y="3149903"/>
            <a:ext cx="2447503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8313" y="1205687"/>
            <a:ext cx="2447503" cy="1943844"/>
          </a:xfrm>
        </p:spPr>
        <p:txBody>
          <a:bodyPr/>
          <a:lstStyle/>
          <a:p>
            <a:endParaRPr lang="uk-UA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468313" y="3939902"/>
            <a:ext cx="2447474" cy="6479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468505" y="3435846"/>
            <a:ext cx="1871272" cy="504056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2" name="Rectangle 7"/>
          <p:cNvSpPr/>
          <p:nvPr userDrawn="1"/>
        </p:nvSpPr>
        <p:spPr>
          <a:xfrm>
            <a:off x="3347864" y="3149903"/>
            <a:ext cx="2447503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3347864" y="1205687"/>
            <a:ext cx="2447503" cy="1943844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Content Placeholder 6"/>
          <p:cNvSpPr>
            <a:spLocks noGrp="1"/>
          </p:cNvSpPr>
          <p:nvPr>
            <p:ph sz="quarter" idx="22"/>
          </p:nvPr>
        </p:nvSpPr>
        <p:spPr>
          <a:xfrm>
            <a:off x="3347864" y="3939902"/>
            <a:ext cx="2447474" cy="6479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23" hasCustomPrompt="1"/>
          </p:nvPr>
        </p:nvSpPr>
        <p:spPr>
          <a:xfrm>
            <a:off x="3348056" y="3435846"/>
            <a:ext cx="1871272" cy="504056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8" name="Rectangle 7"/>
          <p:cNvSpPr/>
          <p:nvPr userDrawn="1"/>
        </p:nvSpPr>
        <p:spPr>
          <a:xfrm>
            <a:off x="6228928" y="3149903"/>
            <a:ext cx="2447503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6228928" y="1205687"/>
            <a:ext cx="2447503" cy="1943844"/>
          </a:xfrm>
        </p:spPr>
        <p:txBody>
          <a:bodyPr/>
          <a:lstStyle/>
          <a:p>
            <a:endParaRPr lang="uk-UA"/>
          </a:p>
        </p:txBody>
      </p:sp>
      <p:sp>
        <p:nvSpPr>
          <p:cNvPr id="20" name="Content Placeholder 6"/>
          <p:cNvSpPr>
            <a:spLocks noGrp="1"/>
          </p:cNvSpPr>
          <p:nvPr>
            <p:ph sz="quarter" idx="25"/>
          </p:nvPr>
        </p:nvSpPr>
        <p:spPr>
          <a:xfrm>
            <a:off x="6228928" y="3939902"/>
            <a:ext cx="2447474" cy="6479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26" hasCustomPrompt="1"/>
          </p:nvPr>
        </p:nvSpPr>
        <p:spPr>
          <a:xfrm>
            <a:off x="6229120" y="3435846"/>
            <a:ext cx="1871272" cy="504056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919158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8"/>
          </p:nvPr>
        </p:nvSpPr>
        <p:spPr>
          <a:xfrm>
            <a:off x="4054467" y="1203325"/>
            <a:ext cx="1035066" cy="1035064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uk-UA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9"/>
          </p:nvPr>
        </p:nvSpPr>
        <p:spPr>
          <a:xfrm>
            <a:off x="4702539" y="1275606"/>
            <a:ext cx="2879725" cy="9361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k-UA"/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899592" y="2429930"/>
            <a:ext cx="742642" cy="74264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uk-UA" dirty="0"/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21" hasCustomPrompt="1"/>
          </p:nvPr>
        </p:nvSpPr>
        <p:spPr>
          <a:xfrm>
            <a:off x="1401453" y="2499742"/>
            <a:ext cx="1800200" cy="64861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text</a:t>
            </a:r>
            <a:endParaRPr lang="uk-UA" dirty="0"/>
          </a:p>
        </p:txBody>
      </p:sp>
      <p:sp>
        <p:nvSpPr>
          <p:cNvPr id="2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3419871" y="2429930"/>
            <a:ext cx="742642" cy="74264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uk-UA" dirty="0"/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23" hasCustomPrompt="1"/>
          </p:nvPr>
        </p:nvSpPr>
        <p:spPr>
          <a:xfrm>
            <a:off x="3921732" y="2499742"/>
            <a:ext cx="1800200" cy="64861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text</a:t>
            </a:r>
            <a:endParaRPr lang="uk-UA" dirty="0"/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24"/>
          </p:nvPr>
        </p:nvSpPr>
        <p:spPr>
          <a:xfrm>
            <a:off x="5940151" y="2429930"/>
            <a:ext cx="742642" cy="74264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uk-UA" dirty="0"/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25" hasCustomPrompt="1"/>
          </p:nvPr>
        </p:nvSpPr>
        <p:spPr>
          <a:xfrm>
            <a:off x="6442012" y="2499742"/>
            <a:ext cx="1800200" cy="64861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text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59302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68313" y="3363838"/>
            <a:ext cx="2447503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8313" y="1851670"/>
            <a:ext cx="2447503" cy="1511796"/>
          </a:xfrm>
        </p:spPr>
        <p:txBody>
          <a:bodyPr/>
          <a:lstStyle/>
          <a:p>
            <a:endParaRPr lang="uk-UA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9"/>
          </p:nvPr>
        </p:nvSpPr>
        <p:spPr>
          <a:xfrm>
            <a:off x="468313" y="3939902"/>
            <a:ext cx="2447474" cy="6479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468505" y="3579862"/>
            <a:ext cx="2446568" cy="360040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2" name="Rectangle 7"/>
          <p:cNvSpPr/>
          <p:nvPr userDrawn="1"/>
        </p:nvSpPr>
        <p:spPr>
          <a:xfrm>
            <a:off x="3347864" y="3363838"/>
            <a:ext cx="2447503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3347864" y="1851670"/>
            <a:ext cx="2447503" cy="1511796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Content Placeholder 6"/>
          <p:cNvSpPr>
            <a:spLocks noGrp="1"/>
          </p:cNvSpPr>
          <p:nvPr>
            <p:ph sz="quarter" idx="22"/>
          </p:nvPr>
        </p:nvSpPr>
        <p:spPr>
          <a:xfrm>
            <a:off x="3347864" y="3939902"/>
            <a:ext cx="2447474" cy="6479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23" hasCustomPrompt="1"/>
          </p:nvPr>
        </p:nvSpPr>
        <p:spPr>
          <a:xfrm>
            <a:off x="3348056" y="3579862"/>
            <a:ext cx="2446568" cy="360040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8" name="Rectangle 7"/>
          <p:cNvSpPr/>
          <p:nvPr userDrawn="1"/>
        </p:nvSpPr>
        <p:spPr>
          <a:xfrm>
            <a:off x="6228928" y="3363838"/>
            <a:ext cx="2447503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6228928" y="1851670"/>
            <a:ext cx="2447503" cy="1511796"/>
          </a:xfrm>
        </p:spPr>
        <p:txBody>
          <a:bodyPr/>
          <a:lstStyle/>
          <a:p>
            <a:endParaRPr lang="uk-UA"/>
          </a:p>
        </p:txBody>
      </p:sp>
      <p:sp>
        <p:nvSpPr>
          <p:cNvPr id="20" name="Content Placeholder 6"/>
          <p:cNvSpPr>
            <a:spLocks noGrp="1"/>
          </p:cNvSpPr>
          <p:nvPr>
            <p:ph sz="quarter" idx="25"/>
          </p:nvPr>
        </p:nvSpPr>
        <p:spPr>
          <a:xfrm>
            <a:off x="6228928" y="3939902"/>
            <a:ext cx="2447474" cy="647973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26" hasCustomPrompt="1"/>
          </p:nvPr>
        </p:nvSpPr>
        <p:spPr>
          <a:xfrm>
            <a:off x="6229120" y="3579862"/>
            <a:ext cx="2446568" cy="360040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22" name="Content Placeholder 6"/>
          <p:cNvSpPr>
            <a:spLocks noGrp="1"/>
          </p:cNvSpPr>
          <p:nvPr>
            <p:ph sz="quarter" idx="27"/>
          </p:nvPr>
        </p:nvSpPr>
        <p:spPr>
          <a:xfrm>
            <a:off x="468312" y="1205667"/>
            <a:ext cx="8207375" cy="501987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0666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703176" y="2286502"/>
            <a:ext cx="201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684312" y="1203598"/>
            <a:ext cx="2015506" cy="1080120"/>
          </a:xfrm>
        </p:spPr>
        <p:txBody>
          <a:bodyPr/>
          <a:lstStyle/>
          <a:p>
            <a:endParaRPr lang="uk-UA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684529" y="2427734"/>
            <a:ext cx="1871272" cy="43204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2" name="Rectangle 7"/>
          <p:cNvSpPr/>
          <p:nvPr userDrawn="1"/>
        </p:nvSpPr>
        <p:spPr>
          <a:xfrm>
            <a:off x="3563863" y="2283718"/>
            <a:ext cx="201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3563863" y="1203598"/>
            <a:ext cx="2015506" cy="1080120"/>
          </a:xfrm>
        </p:spPr>
        <p:txBody>
          <a:bodyPr/>
          <a:lstStyle/>
          <a:p>
            <a:endParaRPr lang="uk-UA"/>
          </a:p>
        </p:txBody>
      </p:sp>
      <p:sp>
        <p:nvSpPr>
          <p:cNvPr id="17" name="Text Placeholder 13"/>
          <p:cNvSpPr>
            <a:spLocks noGrp="1"/>
          </p:cNvSpPr>
          <p:nvPr>
            <p:ph type="body" sz="quarter" idx="23" hasCustomPrompt="1"/>
          </p:nvPr>
        </p:nvSpPr>
        <p:spPr>
          <a:xfrm>
            <a:off x="3564080" y="2427734"/>
            <a:ext cx="1871272" cy="43204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8" name="Rectangle 7"/>
          <p:cNvSpPr/>
          <p:nvPr userDrawn="1"/>
        </p:nvSpPr>
        <p:spPr>
          <a:xfrm>
            <a:off x="6444927" y="2283718"/>
            <a:ext cx="201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6444927" y="1203598"/>
            <a:ext cx="2015506" cy="1080120"/>
          </a:xfrm>
        </p:spPr>
        <p:txBody>
          <a:bodyPr/>
          <a:lstStyle/>
          <a:p>
            <a:endParaRPr lang="uk-UA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26" hasCustomPrompt="1"/>
          </p:nvPr>
        </p:nvSpPr>
        <p:spPr>
          <a:xfrm>
            <a:off x="6445144" y="2427734"/>
            <a:ext cx="1871272" cy="43204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</a:p>
        </p:txBody>
      </p:sp>
      <p:sp>
        <p:nvSpPr>
          <p:cNvPr id="31" name="Rectangle 7"/>
          <p:cNvSpPr/>
          <p:nvPr userDrawn="1"/>
        </p:nvSpPr>
        <p:spPr>
          <a:xfrm>
            <a:off x="696007" y="4033005"/>
            <a:ext cx="201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2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684312" y="2952885"/>
            <a:ext cx="2015506" cy="1080120"/>
          </a:xfrm>
        </p:spPr>
        <p:txBody>
          <a:bodyPr/>
          <a:lstStyle/>
          <a:p>
            <a:endParaRPr lang="uk-UA" dirty="0"/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28" hasCustomPrompt="1"/>
          </p:nvPr>
        </p:nvSpPr>
        <p:spPr>
          <a:xfrm>
            <a:off x="684529" y="4177021"/>
            <a:ext cx="1871272" cy="43204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34" name="Rectangle 7"/>
          <p:cNvSpPr/>
          <p:nvPr userDrawn="1"/>
        </p:nvSpPr>
        <p:spPr>
          <a:xfrm>
            <a:off x="3563863" y="4033005"/>
            <a:ext cx="201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5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3563863" y="2952885"/>
            <a:ext cx="2015506" cy="1080120"/>
          </a:xfrm>
        </p:spPr>
        <p:txBody>
          <a:bodyPr/>
          <a:lstStyle/>
          <a:p>
            <a:endParaRPr lang="uk-UA"/>
          </a:p>
        </p:txBody>
      </p:sp>
      <p:sp>
        <p:nvSpPr>
          <p:cNvPr id="36" name="Text Placehold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3564080" y="4177021"/>
            <a:ext cx="1871272" cy="43204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37" name="Rectangle 7"/>
          <p:cNvSpPr/>
          <p:nvPr userDrawn="1"/>
        </p:nvSpPr>
        <p:spPr>
          <a:xfrm>
            <a:off x="6444927" y="4033005"/>
            <a:ext cx="2015506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8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6444927" y="2952885"/>
            <a:ext cx="2015506" cy="1080120"/>
          </a:xfrm>
        </p:spPr>
        <p:txBody>
          <a:bodyPr/>
          <a:lstStyle/>
          <a:p>
            <a:endParaRPr lang="uk-UA"/>
          </a:p>
        </p:txBody>
      </p:sp>
      <p:sp>
        <p:nvSpPr>
          <p:cNvPr id="39" name="Text Placeholder 13"/>
          <p:cNvSpPr>
            <a:spLocks noGrp="1"/>
          </p:cNvSpPr>
          <p:nvPr>
            <p:ph type="body" sz="quarter" idx="32" hasCustomPrompt="1"/>
          </p:nvPr>
        </p:nvSpPr>
        <p:spPr>
          <a:xfrm>
            <a:off x="6445144" y="4177021"/>
            <a:ext cx="1871272" cy="432048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957036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1" y="1203325"/>
            <a:ext cx="1763688" cy="1368425"/>
          </a:xfrm>
        </p:spPr>
        <p:txBody>
          <a:bodyPr/>
          <a:lstStyle/>
          <a:p>
            <a:endParaRPr lang="uk-UA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26" hasCustomPrompt="1"/>
          </p:nvPr>
        </p:nvSpPr>
        <p:spPr>
          <a:xfrm>
            <a:off x="5509040" y="1203325"/>
            <a:ext cx="3166648" cy="360313"/>
          </a:xfr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24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1763688" y="1203325"/>
            <a:ext cx="2016224" cy="1008385"/>
          </a:xfrm>
        </p:spPr>
        <p:txBody>
          <a:bodyPr/>
          <a:lstStyle/>
          <a:p>
            <a:endParaRPr lang="uk-UA"/>
          </a:p>
        </p:txBody>
      </p:sp>
      <p:sp>
        <p:nvSpPr>
          <p:cNvPr id="25" name="Picture Placeholder 4"/>
          <p:cNvSpPr>
            <a:spLocks noGrp="1"/>
          </p:cNvSpPr>
          <p:nvPr>
            <p:ph type="pic" sz="quarter" idx="28"/>
          </p:nvPr>
        </p:nvSpPr>
        <p:spPr>
          <a:xfrm>
            <a:off x="3779912" y="1203325"/>
            <a:ext cx="1364744" cy="1656457"/>
          </a:xfrm>
        </p:spPr>
        <p:txBody>
          <a:bodyPr/>
          <a:lstStyle/>
          <a:p>
            <a:endParaRPr lang="uk-UA"/>
          </a:p>
        </p:txBody>
      </p:sp>
      <p:sp>
        <p:nvSpPr>
          <p:cNvPr id="26" name="Picture Placeholder 4"/>
          <p:cNvSpPr>
            <a:spLocks noGrp="1"/>
          </p:cNvSpPr>
          <p:nvPr>
            <p:ph type="pic" sz="quarter" idx="29"/>
          </p:nvPr>
        </p:nvSpPr>
        <p:spPr>
          <a:xfrm>
            <a:off x="1" y="2571477"/>
            <a:ext cx="1763687" cy="2016398"/>
          </a:xfrm>
        </p:spPr>
        <p:txBody>
          <a:bodyPr/>
          <a:lstStyle/>
          <a:p>
            <a:endParaRPr lang="uk-UA"/>
          </a:p>
        </p:txBody>
      </p:sp>
      <p:sp>
        <p:nvSpPr>
          <p:cNvPr id="28" name="Picture Placeholder 4"/>
          <p:cNvSpPr>
            <a:spLocks noGrp="1"/>
          </p:cNvSpPr>
          <p:nvPr>
            <p:ph type="pic" sz="quarter" idx="30"/>
          </p:nvPr>
        </p:nvSpPr>
        <p:spPr>
          <a:xfrm>
            <a:off x="1763688" y="2211710"/>
            <a:ext cx="2016224" cy="1368152"/>
          </a:xfrm>
        </p:spPr>
        <p:txBody>
          <a:bodyPr/>
          <a:lstStyle/>
          <a:p>
            <a:endParaRPr lang="uk-UA"/>
          </a:p>
        </p:txBody>
      </p:sp>
      <p:sp>
        <p:nvSpPr>
          <p:cNvPr id="29" name="Picture Placeholder 4"/>
          <p:cNvSpPr>
            <a:spLocks noGrp="1"/>
          </p:cNvSpPr>
          <p:nvPr>
            <p:ph type="pic" sz="quarter" idx="31"/>
          </p:nvPr>
        </p:nvSpPr>
        <p:spPr>
          <a:xfrm>
            <a:off x="1763688" y="3579862"/>
            <a:ext cx="2016224" cy="1001337"/>
          </a:xfrm>
        </p:spPr>
        <p:txBody>
          <a:bodyPr/>
          <a:lstStyle/>
          <a:p>
            <a:endParaRPr lang="uk-UA"/>
          </a:p>
        </p:txBody>
      </p:sp>
      <p:sp>
        <p:nvSpPr>
          <p:cNvPr id="30" name="Picture Placeholder 4"/>
          <p:cNvSpPr>
            <a:spLocks noGrp="1"/>
          </p:cNvSpPr>
          <p:nvPr>
            <p:ph type="pic" sz="quarter" idx="32"/>
          </p:nvPr>
        </p:nvSpPr>
        <p:spPr>
          <a:xfrm>
            <a:off x="3779912" y="2865148"/>
            <a:ext cx="1364744" cy="1722727"/>
          </a:xfrm>
        </p:spPr>
        <p:txBody>
          <a:bodyPr/>
          <a:lstStyle/>
          <a:p>
            <a:endParaRPr lang="uk-UA"/>
          </a:p>
        </p:txBody>
      </p:sp>
      <p:sp>
        <p:nvSpPr>
          <p:cNvPr id="31" name="Content Placeholder 6"/>
          <p:cNvSpPr>
            <a:spLocks noGrp="1"/>
          </p:cNvSpPr>
          <p:nvPr>
            <p:ph sz="quarter" idx="33"/>
          </p:nvPr>
        </p:nvSpPr>
        <p:spPr>
          <a:xfrm>
            <a:off x="5508104" y="3219822"/>
            <a:ext cx="3167606" cy="136056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8528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500796" y="1257480"/>
            <a:ext cx="2663527" cy="1602029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3237101" y="1257480"/>
            <a:ext cx="2663527" cy="1602029"/>
          </a:xfrm>
        </p:spPr>
        <p:txBody>
          <a:bodyPr/>
          <a:lstStyle/>
          <a:p>
            <a:endParaRPr lang="uk-UA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20"/>
          </p:nvPr>
        </p:nvSpPr>
        <p:spPr>
          <a:xfrm>
            <a:off x="5973405" y="1257480"/>
            <a:ext cx="2663527" cy="1602029"/>
          </a:xfrm>
        </p:spPr>
        <p:txBody>
          <a:bodyPr/>
          <a:lstStyle/>
          <a:p>
            <a:endParaRPr lang="uk-UA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500796" y="2913937"/>
            <a:ext cx="2663527" cy="1602029"/>
          </a:xfrm>
        </p:spPr>
        <p:txBody>
          <a:bodyPr/>
          <a:lstStyle/>
          <a:p>
            <a:endParaRPr lang="uk-UA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3237101" y="2913937"/>
            <a:ext cx="2663527" cy="1602029"/>
          </a:xfrm>
        </p:spPr>
        <p:txBody>
          <a:bodyPr/>
          <a:lstStyle/>
          <a:p>
            <a:endParaRPr lang="uk-UA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5973405" y="2913937"/>
            <a:ext cx="2663527" cy="1602029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68497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7545" y="1203599"/>
            <a:ext cx="2016223" cy="1512168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2555777" y="1203598"/>
            <a:ext cx="2016223" cy="2232248"/>
          </a:xfrm>
        </p:spPr>
        <p:txBody>
          <a:bodyPr/>
          <a:lstStyle/>
          <a:p>
            <a:endParaRPr lang="uk-UA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20"/>
          </p:nvPr>
        </p:nvSpPr>
        <p:spPr>
          <a:xfrm>
            <a:off x="4644009" y="1203599"/>
            <a:ext cx="2016223" cy="1080120"/>
          </a:xfrm>
        </p:spPr>
        <p:txBody>
          <a:bodyPr/>
          <a:lstStyle/>
          <a:p>
            <a:endParaRPr lang="uk-UA"/>
          </a:p>
        </p:txBody>
      </p:sp>
      <p:sp>
        <p:nvSpPr>
          <p:cNvPr id="15" name="Picture Placeholder 4"/>
          <p:cNvSpPr>
            <a:spLocks noGrp="1"/>
          </p:cNvSpPr>
          <p:nvPr>
            <p:ph type="pic" sz="quarter" idx="21"/>
          </p:nvPr>
        </p:nvSpPr>
        <p:spPr>
          <a:xfrm>
            <a:off x="6732241" y="1203598"/>
            <a:ext cx="1943447" cy="1602029"/>
          </a:xfrm>
        </p:spPr>
        <p:txBody>
          <a:bodyPr/>
          <a:lstStyle/>
          <a:p>
            <a:endParaRPr lang="uk-UA"/>
          </a:p>
        </p:txBody>
      </p:sp>
      <p:sp>
        <p:nvSpPr>
          <p:cNvPr id="21" name="Picture Placeholder 4"/>
          <p:cNvSpPr>
            <a:spLocks noGrp="1"/>
          </p:cNvSpPr>
          <p:nvPr>
            <p:ph type="pic" sz="quarter" idx="22"/>
          </p:nvPr>
        </p:nvSpPr>
        <p:spPr>
          <a:xfrm>
            <a:off x="467545" y="2787773"/>
            <a:ext cx="2016223" cy="1800101"/>
          </a:xfrm>
        </p:spPr>
        <p:txBody>
          <a:bodyPr/>
          <a:lstStyle/>
          <a:p>
            <a:endParaRPr lang="uk-UA"/>
          </a:p>
        </p:txBody>
      </p:sp>
      <p:sp>
        <p:nvSpPr>
          <p:cNvPr id="22" name="Picture Placeholder 4"/>
          <p:cNvSpPr>
            <a:spLocks noGrp="1"/>
          </p:cNvSpPr>
          <p:nvPr>
            <p:ph type="pic" sz="quarter" idx="23"/>
          </p:nvPr>
        </p:nvSpPr>
        <p:spPr>
          <a:xfrm>
            <a:off x="2555777" y="3507853"/>
            <a:ext cx="2016223" cy="1080022"/>
          </a:xfrm>
        </p:spPr>
        <p:txBody>
          <a:bodyPr/>
          <a:lstStyle/>
          <a:p>
            <a:endParaRPr lang="uk-UA"/>
          </a:p>
        </p:txBody>
      </p:sp>
      <p:sp>
        <p:nvSpPr>
          <p:cNvPr id="23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4644009" y="2368165"/>
            <a:ext cx="2016223" cy="2219710"/>
          </a:xfrm>
        </p:spPr>
        <p:txBody>
          <a:bodyPr/>
          <a:lstStyle/>
          <a:p>
            <a:endParaRPr lang="uk-UA"/>
          </a:p>
        </p:txBody>
      </p:sp>
      <p:sp>
        <p:nvSpPr>
          <p:cNvPr id="24" name="Picture Placeholder 4"/>
          <p:cNvSpPr>
            <a:spLocks noGrp="1"/>
          </p:cNvSpPr>
          <p:nvPr>
            <p:ph type="pic" sz="quarter" idx="25"/>
          </p:nvPr>
        </p:nvSpPr>
        <p:spPr>
          <a:xfrm>
            <a:off x="6732241" y="2868496"/>
            <a:ext cx="1943447" cy="1719379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0758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7544" y="1203598"/>
            <a:ext cx="3960440" cy="2520280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4715248" y="1203598"/>
            <a:ext cx="3960440" cy="2520280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5591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8313" y="1203325"/>
            <a:ext cx="3743647" cy="3384550"/>
          </a:xfr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334037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8312" y="1203325"/>
            <a:ext cx="4679752" cy="3240633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Rectangle 7"/>
          <p:cNvSpPr/>
          <p:nvPr userDrawn="1"/>
        </p:nvSpPr>
        <p:spPr>
          <a:xfrm>
            <a:off x="468312" y="4443958"/>
            <a:ext cx="4679751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Content Placeholder 6"/>
          <p:cNvSpPr>
            <a:spLocks noGrp="1"/>
          </p:cNvSpPr>
          <p:nvPr>
            <p:ph sz="quarter" idx="19"/>
          </p:nvPr>
        </p:nvSpPr>
        <p:spPr>
          <a:xfrm>
            <a:off x="5508624" y="1707158"/>
            <a:ext cx="3167063" cy="2880816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8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5508804" y="1203598"/>
            <a:ext cx="3166884" cy="3587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618579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3"/>
                </a:solidFill>
              </a:rPr>
              <a:t>COMPANY</a:t>
            </a:r>
            <a:r>
              <a:rPr lang="en-US" smtClean="0"/>
              <a:t>name</a:t>
            </a:r>
            <a:endParaRPr lang="uk-UA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smtClean="0"/>
              <a:t>www.company.com</a:t>
            </a:r>
            <a:endParaRPr lang="uk-UA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5508625" y="339725"/>
            <a:ext cx="3167063" cy="360363"/>
          </a:xfrm>
        </p:spPr>
        <p:txBody>
          <a:bodyPr anchor="ctr">
            <a:normAutofit/>
          </a:bodyPr>
          <a:lstStyle>
            <a:lvl1pPr marL="0" indent="0" algn="r">
              <a:buNone/>
              <a:defRPr sz="1000" baseline="0">
                <a:solidFill>
                  <a:srgbClr val="808080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Subtitle is here</a:t>
            </a:r>
            <a:endParaRPr lang="uk-UA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468312" y="1203325"/>
            <a:ext cx="3383608" cy="3240534"/>
          </a:xfrm>
        </p:spPr>
        <p:txBody>
          <a:bodyPr/>
          <a:lstStyle/>
          <a:p>
            <a:endParaRPr lang="uk-UA"/>
          </a:p>
        </p:txBody>
      </p:sp>
      <p:sp>
        <p:nvSpPr>
          <p:cNvPr id="16" name="Rectangle 7"/>
          <p:cNvSpPr/>
          <p:nvPr userDrawn="1"/>
        </p:nvSpPr>
        <p:spPr>
          <a:xfrm>
            <a:off x="468312" y="4443859"/>
            <a:ext cx="3383607" cy="144016"/>
          </a:xfrm>
          <a:custGeom>
            <a:avLst/>
            <a:gdLst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0 w 4464050"/>
              <a:gd name="connsiteY3" fmla="*/ 216024 h 216024"/>
              <a:gd name="connsiteX4" fmla="*/ 0 w 4464050"/>
              <a:gd name="connsiteY4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187105 w 4464050"/>
              <a:gd name="connsiteY3" fmla="*/ 210104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09051 w 4464050"/>
              <a:gd name="connsiteY3" fmla="*/ 19909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0 w 4464050"/>
              <a:gd name="connsiteY0" fmla="*/ 806 h 216830"/>
              <a:gd name="connsiteX1" fmla="*/ 4464050 w 4464050"/>
              <a:gd name="connsiteY1" fmla="*/ 806 h 216830"/>
              <a:gd name="connsiteX2" fmla="*/ 4464050 w 4464050"/>
              <a:gd name="connsiteY2" fmla="*/ 216830 h 216830"/>
              <a:gd name="connsiteX3" fmla="*/ 2212010 w 4464050"/>
              <a:gd name="connsiteY3" fmla="*/ 0 h 216830"/>
              <a:gd name="connsiteX4" fmla="*/ 0 w 4464050"/>
              <a:gd name="connsiteY4" fmla="*/ 216830 h 216830"/>
              <a:gd name="connsiteX5" fmla="*/ 0 w 4464050"/>
              <a:gd name="connsiteY5" fmla="*/ 806 h 216830"/>
              <a:gd name="connsiteX0" fmla="*/ 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0 w 4464050"/>
              <a:gd name="connsiteY5" fmla="*/ 0 h 216024"/>
              <a:gd name="connsiteX0" fmla="*/ 77190 w 4464050"/>
              <a:gd name="connsiteY0" fmla="*/ 0 h 216024"/>
              <a:gd name="connsiteX1" fmla="*/ 4464050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  <a:gd name="connsiteX0" fmla="*/ 77190 w 4464050"/>
              <a:gd name="connsiteY0" fmla="*/ 0 h 216024"/>
              <a:gd name="connsiteX1" fmla="*/ 4386861 w 4464050"/>
              <a:gd name="connsiteY1" fmla="*/ 0 h 216024"/>
              <a:gd name="connsiteX2" fmla="*/ 4464050 w 4464050"/>
              <a:gd name="connsiteY2" fmla="*/ 216024 h 216024"/>
              <a:gd name="connsiteX3" fmla="*/ 2212010 w 4464050"/>
              <a:gd name="connsiteY3" fmla="*/ 8072 h 216024"/>
              <a:gd name="connsiteX4" fmla="*/ 0 w 4464050"/>
              <a:gd name="connsiteY4" fmla="*/ 216024 h 216024"/>
              <a:gd name="connsiteX5" fmla="*/ 77190 w 4464050"/>
              <a:gd name="connsiteY5" fmla="*/ 0 h 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4050" h="216024">
                <a:moveTo>
                  <a:pt x="77190" y="0"/>
                </a:moveTo>
                <a:lnTo>
                  <a:pt x="4386861" y="0"/>
                </a:lnTo>
                <a:lnTo>
                  <a:pt x="4464050" y="216024"/>
                </a:lnTo>
                <a:cubicBezTo>
                  <a:pt x="3712384" y="150652"/>
                  <a:pt x="3643989" y="22238"/>
                  <a:pt x="2212010" y="8072"/>
                </a:cubicBezTo>
                <a:cubicBezTo>
                  <a:pt x="1000172" y="22238"/>
                  <a:pt x="736350" y="150652"/>
                  <a:pt x="0" y="216024"/>
                </a:cubicBezTo>
                <a:lnTo>
                  <a:pt x="77190" y="0"/>
                </a:lnTo>
                <a:close/>
              </a:path>
            </a:pathLst>
          </a:custGeom>
          <a:gradFill flip="none" rotWithShape="1">
            <a:gsLst>
              <a:gs pos="100000">
                <a:srgbClr val="111111">
                  <a:alpha val="2000"/>
                </a:srgbClr>
              </a:gs>
              <a:gs pos="0">
                <a:srgbClr val="111111">
                  <a:alpha val="2000"/>
                </a:srgbClr>
              </a:gs>
              <a:gs pos="50000">
                <a:srgbClr val="000000">
                  <a:alpha val="35000"/>
                </a:srgb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Content Placeholder 6"/>
          <p:cNvSpPr>
            <a:spLocks noGrp="1"/>
          </p:cNvSpPr>
          <p:nvPr>
            <p:ph sz="quarter" idx="19"/>
          </p:nvPr>
        </p:nvSpPr>
        <p:spPr>
          <a:xfrm>
            <a:off x="4211960" y="1707158"/>
            <a:ext cx="4463728" cy="1368648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8" name="Text Placehold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4212140" y="1203598"/>
            <a:ext cx="4463476" cy="3587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 smtClean="0"/>
              <a:t>Subtitle</a:t>
            </a:r>
            <a:endParaRPr lang="uk-UA" dirty="0"/>
          </a:p>
        </p:txBody>
      </p:sp>
      <p:sp>
        <p:nvSpPr>
          <p:cNvPr id="12" name="Content Placeholder 6"/>
          <p:cNvSpPr>
            <a:spLocks noGrp="1"/>
          </p:cNvSpPr>
          <p:nvPr>
            <p:ph sz="quarter" idx="21"/>
          </p:nvPr>
        </p:nvSpPr>
        <p:spPr>
          <a:xfrm>
            <a:off x="4067944" y="3219822"/>
            <a:ext cx="1511261" cy="1368152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Content Placeholder 6"/>
          <p:cNvSpPr>
            <a:spLocks noGrp="1"/>
          </p:cNvSpPr>
          <p:nvPr>
            <p:ph sz="quarter" idx="22"/>
          </p:nvPr>
        </p:nvSpPr>
        <p:spPr>
          <a:xfrm>
            <a:off x="5651213" y="3219822"/>
            <a:ext cx="1511261" cy="1368152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" name="Content Placeholder 6"/>
          <p:cNvSpPr>
            <a:spLocks noGrp="1"/>
          </p:cNvSpPr>
          <p:nvPr>
            <p:ph sz="quarter" idx="23"/>
          </p:nvPr>
        </p:nvSpPr>
        <p:spPr>
          <a:xfrm>
            <a:off x="7207137" y="3219822"/>
            <a:ext cx="1511261" cy="1368152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41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/>
      <p:bldP spid="16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uk-U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b="1" dirty="0" err="1" smtClean="0">
                <a:solidFill>
                  <a:schemeClr val="accent3"/>
                </a:solidFill>
              </a:rPr>
              <a:t>COMPANY</a:t>
            </a:r>
            <a:r>
              <a:rPr lang="en-US" dirty="0" err="1" smtClean="0"/>
              <a:t>name</a:t>
            </a:r>
            <a:endParaRPr lang="uk-U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www.company.com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9770" y="4767263"/>
            <a:ext cx="37873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2E19C-F0D7-470F-8E3A-FEF858791E3B}" type="slidenum">
              <a:rPr lang="uk-UA" smtClean="0"/>
              <a:pPr/>
              <a:t>‹#›</a:t>
            </a:fld>
            <a:endParaRPr lang="uk-UA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0" y="195487"/>
            <a:ext cx="9143999" cy="623379"/>
            <a:chOff x="-4361971" y="195486"/>
            <a:chExt cx="13505971" cy="920750"/>
          </a:xfrm>
          <a:effectLst>
            <a:outerShdw blurRad="25400" dist="12700" dir="54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/>
            <p:cNvSpPr/>
            <p:nvPr userDrawn="1"/>
          </p:nvSpPr>
          <p:spPr>
            <a:xfrm>
              <a:off x="-4361971" y="195486"/>
              <a:ext cx="13505971" cy="92075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  <a:alpha val="60000"/>
                  </a:schemeClr>
                </a:gs>
                <a:gs pos="100000">
                  <a:schemeClr val="bg1">
                    <a:lumMod val="65000"/>
                    <a:alpha val="5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Freeform 58"/>
            <p:cNvSpPr>
              <a:spLocks/>
            </p:cNvSpPr>
            <p:nvPr userDrawn="1"/>
          </p:nvSpPr>
          <p:spPr bwMode="auto">
            <a:xfrm>
              <a:off x="7580312" y="195486"/>
              <a:ext cx="1563688" cy="920750"/>
            </a:xfrm>
            <a:custGeom>
              <a:avLst/>
              <a:gdLst>
                <a:gd name="T0" fmla="*/ 32 w 416"/>
                <a:gd name="T1" fmla="*/ 0 h 242"/>
                <a:gd name="T2" fmla="*/ 0 w 416"/>
                <a:gd name="T3" fmla="*/ 138 h 242"/>
                <a:gd name="T4" fmla="*/ 18 w 416"/>
                <a:gd name="T5" fmla="*/ 242 h 242"/>
                <a:gd name="T6" fmla="*/ 416 w 416"/>
                <a:gd name="T7" fmla="*/ 242 h 242"/>
                <a:gd name="T8" fmla="*/ 416 w 416"/>
                <a:gd name="T9" fmla="*/ 0 h 242"/>
                <a:gd name="T10" fmla="*/ 32 w 416"/>
                <a:gd name="T11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6" h="242">
                  <a:moveTo>
                    <a:pt x="32" y="0"/>
                  </a:moveTo>
                  <a:cubicBezTo>
                    <a:pt x="11" y="41"/>
                    <a:pt x="0" y="88"/>
                    <a:pt x="0" y="138"/>
                  </a:cubicBezTo>
                  <a:cubicBezTo>
                    <a:pt x="0" y="174"/>
                    <a:pt x="6" y="209"/>
                    <a:pt x="18" y="242"/>
                  </a:cubicBezTo>
                  <a:cubicBezTo>
                    <a:pt x="416" y="242"/>
                    <a:pt x="416" y="242"/>
                    <a:pt x="416" y="242"/>
                  </a:cubicBezTo>
                  <a:cubicBezTo>
                    <a:pt x="416" y="0"/>
                    <a:pt x="416" y="0"/>
                    <a:pt x="416" y="0"/>
                  </a:cubicBezTo>
                  <a:lnTo>
                    <a:pt x="32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6000"/>
                  </a:srgbClr>
                </a:gs>
                <a:gs pos="100000">
                  <a:srgbClr val="B2B2B2">
                    <a:alpha val="6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9" name="Freeform 59"/>
            <p:cNvSpPr>
              <a:spLocks/>
            </p:cNvSpPr>
            <p:nvPr userDrawn="1"/>
          </p:nvSpPr>
          <p:spPr bwMode="auto">
            <a:xfrm>
              <a:off x="7445374" y="195486"/>
              <a:ext cx="179388" cy="920750"/>
            </a:xfrm>
            <a:custGeom>
              <a:avLst/>
              <a:gdLst>
                <a:gd name="T0" fmla="*/ 48 w 48"/>
                <a:gd name="T1" fmla="*/ 0 h 242"/>
                <a:gd name="T2" fmla="*/ 28 w 48"/>
                <a:gd name="T3" fmla="*/ 0 h 242"/>
                <a:gd name="T4" fmla="*/ 0 w 48"/>
                <a:gd name="T5" fmla="*/ 138 h 242"/>
                <a:gd name="T6" fmla="*/ 16 w 48"/>
                <a:gd name="T7" fmla="*/ 242 h 242"/>
                <a:gd name="T8" fmla="*/ 34 w 48"/>
                <a:gd name="T9" fmla="*/ 242 h 242"/>
                <a:gd name="T10" fmla="*/ 18 w 48"/>
                <a:gd name="T11" fmla="*/ 138 h 242"/>
                <a:gd name="T12" fmla="*/ 48 w 48"/>
                <a:gd name="T1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42">
                  <a:moveTo>
                    <a:pt x="4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0" y="42"/>
                    <a:pt x="0" y="89"/>
                    <a:pt x="0" y="138"/>
                  </a:cubicBezTo>
                  <a:cubicBezTo>
                    <a:pt x="0" y="174"/>
                    <a:pt x="5" y="209"/>
                    <a:pt x="16" y="242"/>
                  </a:cubicBezTo>
                  <a:cubicBezTo>
                    <a:pt x="34" y="242"/>
                    <a:pt x="34" y="242"/>
                    <a:pt x="34" y="242"/>
                  </a:cubicBezTo>
                  <a:cubicBezTo>
                    <a:pt x="24" y="209"/>
                    <a:pt x="18" y="174"/>
                    <a:pt x="18" y="138"/>
                  </a:cubicBezTo>
                  <a:cubicBezTo>
                    <a:pt x="18" y="88"/>
                    <a:pt x="28" y="42"/>
                    <a:pt x="48" y="0"/>
                  </a:cubicBezTo>
                  <a:close/>
                </a:path>
              </a:pathLst>
            </a:custGeom>
            <a:solidFill>
              <a:srgbClr val="FFFFFF">
                <a:alpha val="6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0" name="Freeform 60"/>
            <p:cNvSpPr>
              <a:spLocks/>
            </p:cNvSpPr>
            <p:nvPr userDrawn="1"/>
          </p:nvSpPr>
          <p:spPr bwMode="auto">
            <a:xfrm>
              <a:off x="5241924" y="328836"/>
              <a:ext cx="1973263" cy="787400"/>
            </a:xfrm>
            <a:custGeom>
              <a:avLst/>
              <a:gdLst>
                <a:gd name="T0" fmla="*/ 262 w 525"/>
                <a:gd name="T1" fmla="*/ 0 h 207"/>
                <a:gd name="T2" fmla="*/ 0 w 525"/>
                <a:gd name="T3" fmla="*/ 207 h 207"/>
                <a:gd name="T4" fmla="*/ 525 w 525"/>
                <a:gd name="T5" fmla="*/ 207 h 207"/>
                <a:gd name="T6" fmla="*/ 262 w 525"/>
                <a:gd name="T7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5" h="207">
                  <a:moveTo>
                    <a:pt x="262" y="0"/>
                  </a:moveTo>
                  <a:cubicBezTo>
                    <a:pt x="135" y="0"/>
                    <a:pt x="28" y="88"/>
                    <a:pt x="0" y="207"/>
                  </a:cubicBezTo>
                  <a:cubicBezTo>
                    <a:pt x="525" y="207"/>
                    <a:pt x="525" y="207"/>
                    <a:pt x="525" y="207"/>
                  </a:cubicBezTo>
                  <a:cubicBezTo>
                    <a:pt x="496" y="88"/>
                    <a:pt x="389" y="0"/>
                    <a:pt x="26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1" name="Freeform 61"/>
            <p:cNvSpPr>
              <a:spLocks/>
            </p:cNvSpPr>
            <p:nvPr userDrawn="1"/>
          </p:nvSpPr>
          <p:spPr bwMode="auto">
            <a:xfrm>
              <a:off x="5102224" y="195486"/>
              <a:ext cx="2249488" cy="920750"/>
            </a:xfrm>
            <a:custGeom>
              <a:avLst/>
              <a:gdLst>
                <a:gd name="T0" fmla="*/ 322 w 598"/>
                <a:gd name="T1" fmla="*/ 0 h 242"/>
                <a:gd name="T2" fmla="*/ 276 w 598"/>
                <a:gd name="T3" fmla="*/ 0 h 242"/>
                <a:gd name="T4" fmla="*/ 0 w 598"/>
                <a:gd name="T5" fmla="*/ 242 h 242"/>
                <a:gd name="T6" fmla="*/ 18 w 598"/>
                <a:gd name="T7" fmla="*/ 242 h 242"/>
                <a:gd name="T8" fmla="*/ 299 w 598"/>
                <a:gd name="T9" fmla="*/ 17 h 242"/>
                <a:gd name="T10" fmla="*/ 580 w 598"/>
                <a:gd name="T11" fmla="*/ 242 h 242"/>
                <a:gd name="T12" fmla="*/ 598 w 598"/>
                <a:gd name="T13" fmla="*/ 242 h 242"/>
                <a:gd name="T14" fmla="*/ 322 w 598"/>
                <a:gd name="T15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98" h="242">
                  <a:moveTo>
                    <a:pt x="322" y="0"/>
                  </a:moveTo>
                  <a:cubicBezTo>
                    <a:pt x="276" y="0"/>
                    <a:pt x="276" y="0"/>
                    <a:pt x="276" y="0"/>
                  </a:cubicBezTo>
                  <a:cubicBezTo>
                    <a:pt x="140" y="10"/>
                    <a:pt x="28" y="110"/>
                    <a:pt x="0" y="242"/>
                  </a:cubicBezTo>
                  <a:cubicBezTo>
                    <a:pt x="18" y="242"/>
                    <a:pt x="18" y="242"/>
                    <a:pt x="18" y="242"/>
                  </a:cubicBezTo>
                  <a:cubicBezTo>
                    <a:pt x="47" y="113"/>
                    <a:pt x="162" y="17"/>
                    <a:pt x="299" y="17"/>
                  </a:cubicBezTo>
                  <a:cubicBezTo>
                    <a:pt x="437" y="17"/>
                    <a:pt x="551" y="113"/>
                    <a:pt x="580" y="242"/>
                  </a:cubicBezTo>
                  <a:cubicBezTo>
                    <a:pt x="598" y="242"/>
                    <a:pt x="598" y="242"/>
                    <a:pt x="598" y="242"/>
                  </a:cubicBezTo>
                  <a:cubicBezTo>
                    <a:pt x="571" y="110"/>
                    <a:pt x="459" y="10"/>
                    <a:pt x="322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2" name="Freeform 62"/>
            <p:cNvSpPr>
              <a:spLocks/>
            </p:cNvSpPr>
            <p:nvPr userDrawn="1"/>
          </p:nvSpPr>
          <p:spPr bwMode="auto">
            <a:xfrm>
              <a:off x="8151812" y="195486"/>
              <a:ext cx="752475" cy="503238"/>
            </a:xfrm>
            <a:custGeom>
              <a:avLst/>
              <a:gdLst>
                <a:gd name="T0" fmla="*/ 100 w 200"/>
                <a:gd name="T1" fmla="*/ 132 h 132"/>
                <a:gd name="T2" fmla="*/ 200 w 200"/>
                <a:gd name="T3" fmla="*/ 31 h 132"/>
                <a:gd name="T4" fmla="*/ 195 w 200"/>
                <a:gd name="T5" fmla="*/ 0 h 132"/>
                <a:gd name="T6" fmla="*/ 5 w 200"/>
                <a:gd name="T7" fmla="*/ 0 h 132"/>
                <a:gd name="T8" fmla="*/ 0 w 200"/>
                <a:gd name="T9" fmla="*/ 31 h 132"/>
                <a:gd name="T10" fmla="*/ 100 w 200"/>
                <a:gd name="T11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" h="132">
                  <a:moveTo>
                    <a:pt x="100" y="132"/>
                  </a:moveTo>
                  <a:cubicBezTo>
                    <a:pt x="155" y="132"/>
                    <a:pt x="200" y="87"/>
                    <a:pt x="200" y="31"/>
                  </a:cubicBezTo>
                  <a:cubicBezTo>
                    <a:pt x="200" y="20"/>
                    <a:pt x="199" y="10"/>
                    <a:pt x="19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10"/>
                    <a:pt x="0" y="20"/>
                    <a:pt x="0" y="31"/>
                  </a:cubicBezTo>
                  <a:cubicBezTo>
                    <a:pt x="0" y="87"/>
                    <a:pt x="45" y="132"/>
                    <a:pt x="100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3" name="Freeform 63"/>
            <p:cNvSpPr>
              <a:spLocks/>
            </p:cNvSpPr>
            <p:nvPr userDrawn="1"/>
          </p:nvSpPr>
          <p:spPr bwMode="auto">
            <a:xfrm>
              <a:off x="8107362" y="195486"/>
              <a:ext cx="841375" cy="547688"/>
            </a:xfrm>
            <a:custGeom>
              <a:avLst/>
              <a:gdLst>
                <a:gd name="T0" fmla="*/ 220 w 224"/>
                <a:gd name="T1" fmla="*/ 0 h 144"/>
                <a:gd name="T2" fmla="*/ 214 w 224"/>
                <a:gd name="T3" fmla="*/ 0 h 144"/>
                <a:gd name="T4" fmla="*/ 218 w 224"/>
                <a:gd name="T5" fmla="*/ 31 h 144"/>
                <a:gd name="T6" fmla="*/ 112 w 224"/>
                <a:gd name="T7" fmla="*/ 138 h 144"/>
                <a:gd name="T8" fmla="*/ 6 w 224"/>
                <a:gd name="T9" fmla="*/ 31 h 144"/>
                <a:gd name="T10" fmla="*/ 11 w 224"/>
                <a:gd name="T11" fmla="*/ 0 h 144"/>
                <a:gd name="T12" fmla="*/ 5 w 224"/>
                <a:gd name="T13" fmla="*/ 0 h 144"/>
                <a:gd name="T14" fmla="*/ 0 w 224"/>
                <a:gd name="T15" fmla="*/ 31 h 144"/>
                <a:gd name="T16" fmla="*/ 112 w 224"/>
                <a:gd name="T17" fmla="*/ 144 h 144"/>
                <a:gd name="T18" fmla="*/ 224 w 224"/>
                <a:gd name="T19" fmla="*/ 31 h 144"/>
                <a:gd name="T20" fmla="*/ 220 w 224"/>
                <a:gd name="T2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4" h="144">
                  <a:moveTo>
                    <a:pt x="220" y="0"/>
                  </a:moveTo>
                  <a:cubicBezTo>
                    <a:pt x="214" y="0"/>
                    <a:pt x="214" y="0"/>
                    <a:pt x="214" y="0"/>
                  </a:cubicBezTo>
                  <a:cubicBezTo>
                    <a:pt x="217" y="10"/>
                    <a:pt x="218" y="20"/>
                    <a:pt x="218" y="31"/>
                  </a:cubicBezTo>
                  <a:cubicBezTo>
                    <a:pt x="218" y="90"/>
                    <a:pt x="171" y="138"/>
                    <a:pt x="112" y="138"/>
                  </a:cubicBezTo>
                  <a:cubicBezTo>
                    <a:pt x="54" y="138"/>
                    <a:pt x="6" y="90"/>
                    <a:pt x="6" y="31"/>
                  </a:cubicBezTo>
                  <a:cubicBezTo>
                    <a:pt x="6" y="20"/>
                    <a:pt x="8" y="10"/>
                    <a:pt x="11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10"/>
                    <a:pt x="0" y="20"/>
                    <a:pt x="0" y="31"/>
                  </a:cubicBezTo>
                  <a:cubicBezTo>
                    <a:pt x="0" y="93"/>
                    <a:pt x="50" y="144"/>
                    <a:pt x="112" y="144"/>
                  </a:cubicBezTo>
                  <a:cubicBezTo>
                    <a:pt x="174" y="144"/>
                    <a:pt x="224" y="93"/>
                    <a:pt x="224" y="31"/>
                  </a:cubicBezTo>
                  <a:cubicBezTo>
                    <a:pt x="224" y="20"/>
                    <a:pt x="223" y="10"/>
                    <a:pt x="22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4" name="Freeform 64"/>
            <p:cNvSpPr>
              <a:spLocks/>
            </p:cNvSpPr>
            <p:nvPr userDrawn="1"/>
          </p:nvSpPr>
          <p:spPr bwMode="auto">
            <a:xfrm>
              <a:off x="8855074" y="195486"/>
              <a:ext cx="288925" cy="182563"/>
            </a:xfrm>
            <a:custGeom>
              <a:avLst/>
              <a:gdLst>
                <a:gd name="T0" fmla="*/ 0 w 77"/>
                <a:gd name="T1" fmla="*/ 0 h 48"/>
                <a:gd name="T2" fmla="*/ 0 w 77"/>
                <a:gd name="T3" fmla="*/ 1 h 48"/>
                <a:gd name="T4" fmla="*/ 48 w 77"/>
                <a:gd name="T5" fmla="*/ 48 h 48"/>
                <a:gd name="T6" fmla="*/ 77 w 77"/>
                <a:gd name="T7" fmla="*/ 38 h 48"/>
                <a:gd name="T8" fmla="*/ 77 w 77"/>
                <a:gd name="T9" fmla="*/ 0 h 48"/>
                <a:gd name="T10" fmla="*/ 0 w 77"/>
                <a:gd name="T1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48">
                  <a:moveTo>
                    <a:pt x="0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0" y="27"/>
                    <a:pt x="21" y="48"/>
                    <a:pt x="48" y="48"/>
                  </a:cubicBezTo>
                  <a:cubicBezTo>
                    <a:pt x="59" y="48"/>
                    <a:pt x="69" y="44"/>
                    <a:pt x="77" y="38"/>
                  </a:cubicBezTo>
                  <a:cubicBezTo>
                    <a:pt x="77" y="0"/>
                    <a:pt x="77" y="0"/>
                    <a:pt x="77" y="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5" name="Freeform 65"/>
            <p:cNvSpPr>
              <a:spLocks/>
            </p:cNvSpPr>
            <p:nvPr userDrawn="1"/>
          </p:nvSpPr>
          <p:spPr bwMode="auto">
            <a:xfrm>
              <a:off x="8810624" y="195486"/>
              <a:ext cx="333375" cy="228600"/>
            </a:xfrm>
            <a:custGeom>
              <a:avLst/>
              <a:gdLst>
                <a:gd name="T0" fmla="*/ 6 w 89"/>
                <a:gd name="T1" fmla="*/ 1 h 60"/>
                <a:gd name="T2" fmla="*/ 6 w 89"/>
                <a:gd name="T3" fmla="*/ 0 h 60"/>
                <a:gd name="T4" fmla="*/ 0 w 89"/>
                <a:gd name="T5" fmla="*/ 0 h 60"/>
                <a:gd name="T6" fmla="*/ 0 w 89"/>
                <a:gd name="T7" fmla="*/ 1 h 60"/>
                <a:gd name="T8" fmla="*/ 60 w 89"/>
                <a:gd name="T9" fmla="*/ 60 h 60"/>
                <a:gd name="T10" fmla="*/ 89 w 89"/>
                <a:gd name="T11" fmla="*/ 52 h 60"/>
                <a:gd name="T12" fmla="*/ 89 w 89"/>
                <a:gd name="T13" fmla="*/ 45 h 60"/>
                <a:gd name="T14" fmla="*/ 60 w 89"/>
                <a:gd name="T15" fmla="*/ 54 h 60"/>
                <a:gd name="T16" fmla="*/ 6 w 89"/>
                <a:gd name="T17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" h="60">
                  <a:moveTo>
                    <a:pt x="6" y="1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33"/>
                    <a:pt x="27" y="60"/>
                    <a:pt x="60" y="60"/>
                  </a:cubicBezTo>
                  <a:cubicBezTo>
                    <a:pt x="70" y="60"/>
                    <a:pt x="80" y="57"/>
                    <a:pt x="89" y="52"/>
                  </a:cubicBezTo>
                  <a:cubicBezTo>
                    <a:pt x="89" y="45"/>
                    <a:pt x="89" y="45"/>
                    <a:pt x="89" y="45"/>
                  </a:cubicBezTo>
                  <a:cubicBezTo>
                    <a:pt x="81" y="51"/>
                    <a:pt x="71" y="54"/>
                    <a:pt x="60" y="54"/>
                  </a:cubicBezTo>
                  <a:cubicBezTo>
                    <a:pt x="30" y="54"/>
                    <a:pt x="6" y="30"/>
                    <a:pt x="6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6" name="Oval 66"/>
            <p:cNvSpPr>
              <a:spLocks noChangeArrowheads="1"/>
            </p:cNvSpPr>
            <p:nvPr userDrawn="1"/>
          </p:nvSpPr>
          <p:spPr bwMode="auto">
            <a:xfrm>
              <a:off x="6850062" y="435199"/>
              <a:ext cx="136525" cy="13335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17" name="Freeform 67"/>
            <p:cNvSpPr>
              <a:spLocks noEditPoints="1"/>
            </p:cNvSpPr>
            <p:nvPr userDrawn="1"/>
          </p:nvSpPr>
          <p:spPr bwMode="auto">
            <a:xfrm>
              <a:off x="6827837" y="412974"/>
              <a:ext cx="177800" cy="177800"/>
            </a:xfrm>
            <a:custGeom>
              <a:avLst/>
              <a:gdLst>
                <a:gd name="T0" fmla="*/ 24 w 47"/>
                <a:gd name="T1" fmla="*/ 47 h 47"/>
                <a:gd name="T2" fmla="*/ 0 w 47"/>
                <a:gd name="T3" fmla="*/ 24 h 47"/>
                <a:gd name="T4" fmla="*/ 24 w 47"/>
                <a:gd name="T5" fmla="*/ 0 h 47"/>
                <a:gd name="T6" fmla="*/ 47 w 47"/>
                <a:gd name="T7" fmla="*/ 24 h 47"/>
                <a:gd name="T8" fmla="*/ 24 w 47"/>
                <a:gd name="T9" fmla="*/ 47 h 47"/>
                <a:gd name="T10" fmla="*/ 24 w 47"/>
                <a:gd name="T11" fmla="*/ 4 h 47"/>
                <a:gd name="T12" fmla="*/ 4 w 47"/>
                <a:gd name="T13" fmla="*/ 24 h 47"/>
                <a:gd name="T14" fmla="*/ 24 w 47"/>
                <a:gd name="T15" fmla="*/ 43 h 47"/>
                <a:gd name="T16" fmla="*/ 43 w 47"/>
                <a:gd name="T17" fmla="*/ 24 h 47"/>
                <a:gd name="T18" fmla="*/ 24 w 47"/>
                <a:gd name="T19" fmla="*/ 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47">
                  <a:moveTo>
                    <a:pt x="24" y="47"/>
                  </a:moveTo>
                  <a:cubicBezTo>
                    <a:pt x="11" y="47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7" y="11"/>
                    <a:pt x="47" y="24"/>
                  </a:cubicBezTo>
                  <a:cubicBezTo>
                    <a:pt x="47" y="37"/>
                    <a:pt x="37" y="47"/>
                    <a:pt x="24" y="47"/>
                  </a:cubicBezTo>
                  <a:close/>
                  <a:moveTo>
                    <a:pt x="24" y="4"/>
                  </a:moveTo>
                  <a:cubicBezTo>
                    <a:pt x="13" y="4"/>
                    <a:pt x="4" y="13"/>
                    <a:pt x="4" y="24"/>
                  </a:cubicBezTo>
                  <a:cubicBezTo>
                    <a:pt x="4" y="34"/>
                    <a:pt x="13" y="43"/>
                    <a:pt x="24" y="43"/>
                  </a:cubicBezTo>
                  <a:cubicBezTo>
                    <a:pt x="35" y="43"/>
                    <a:pt x="43" y="34"/>
                    <a:pt x="43" y="24"/>
                  </a:cubicBezTo>
                  <a:cubicBezTo>
                    <a:pt x="43" y="13"/>
                    <a:pt x="35" y="4"/>
                    <a:pt x="24" y="4"/>
                  </a:cubicBezTo>
                  <a:close/>
                </a:path>
              </a:pathLst>
            </a:custGeom>
            <a:solidFill>
              <a:srgbClr val="B2B2B2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4474840" cy="612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uk-UA" dirty="0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8769949" y="4749443"/>
            <a:ext cx="315357" cy="315357"/>
            <a:chOff x="7728278" y="1620599"/>
            <a:chExt cx="120377" cy="120377"/>
          </a:xfrm>
        </p:grpSpPr>
        <p:sp>
          <p:nvSpPr>
            <p:cNvPr id="19" name="Oval 66"/>
            <p:cNvSpPr>
              <a:spLocks noChangeArrowheads="1"/>
            </p:cNvSpPr>
            <p:nvPr userDrawn="1"/>
          </p:nvSpPr>
          <p:spPr bwMode="auto">
            <a:xfrm>
              <a:off x="7743325" y="1635646"/>
              <a:ext cx="92432" cy="90282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alpha val="10000"/>
                  </a:srgbClr>
                </a:gs>
                <a:gs pos="100000">
                  <a:srgbClr val="B2B2B2">
                    <a:alpha val="1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20" name="Freeform 67"/>
            <p:cNvSpPr>
              <a:spLocks noEditPoints="1"/>
            </p:cNvSpPr>
            <p:nvPr userDrawn="1"/>
          </p:nvSpPr>
          <p:spPr bwMode="auto">
            <a:xfrm>
              <a:off x="7728278" y="1620599"/>
              <a:ext cx="120377" cy="120377"/>
            </a:xfrm>
            <a:custGeom>
              <a:avLst/>
              <a:gdLst>
                <a:gd name="T0" fmla="*/ 24 w 47"/>
                <a:gd name="T1" fmla="*/ 47 h 47"/>
                <a:gd name="T2" fmla="*/ 0 w 47"/>
                <a:gd name="T3" fmla="*/ 24 h 47"/>
                <a:gd name="T4" fmla="*/ 24 w 47"/>
                <a:gd name="T5" fmla="*/ 0 h 47"/>
                <a:gd name="T6" fmla="*/ 47 w 47"/>
                <a:gd name="T7" fmla="*/ 24 h 47"/>
                <a:gd name="T8" fmla="*/ 24 w 47"/>
                <a:gd name="T9" fmla="*/ 47 h 47"/>
                <a:gd name="T10" fmla="*/ 24 w 47"/>
                <a:gd name="T11" fmla="*/ 4 h 47"/>
                <a:gd name="T12" fmla="*/ 4 w 47"/>
                <a:gd name="T13" fmla="*/ 24 h 47"/>
                <a:gd name="T14" fmla="*/ 24 w 47"/>
                <a:gd name="T15" fmla="*/ 43 h 47"/>
                <a:gd name="T16" fmla="*/ 43 w 47"/>
                <a:gd name="T17" fmla="*/ 24 h 47"/>
                <a:gd name="T18" fmla="*/ 24 w 47"/>
                <a:gd name="T19" fmla="*/ 4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7" h="47">
                  <a:moveTo>
                    <a:pt x="24" y="47"/>
                  </a:moveTo>
                  <a:cubicBezTo>
                    <a:pt x="11" y="47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7" y="11"/>
                    <a:pt x="47" y="24"/>
                  </a:cubicBezTo>
                  <a:cubicBezTo>
                    <a:pt x="47" y="37"/>
                    <a:pt x="37" y="47"/>
                    <a:pt x="24" y="47"/>
                  </a:cubicBezTo>
                  <a:close/>
                  <a:moveTo>
                    <a:pt x="24" y="4"/>
                  </a:moveTo>
                  <a:cubicBezTo>
                    <a:pt x="13" y="4"/>
                    <a:pt x="4" y="13"/>
                    <a:pt x="4" y="24"/>
                  </a:cubicBezTo>
                  <a:cubicBezTo>
                    <a:pt x="4" y="34"/>
                    <a:pt x="13" y="43"/>
                    <a:pt x="24" y="43"/>
                  </a:cubicBezTo>
                  <a:cubicBezTo>
                    <a:pt x="35" y="43"/>
                    <a:pt x="43" y="34"/>
                    <a:pt x="43" y="24"/>
                  </a:cubicBezTo>
                  <a:cubicBezTo>
                    <a:pt x="43" y="13"/>
                    <a:pt x="35" y="4"/>
                    <a:pt x="24" y="4"/>
                  </a:cubicBezTo>
                  <a:close/>
                </a:path>
              </a:pathLst>
            </a:custGeom>
            <a:solidFill>
              <a:srgbClr val="B2B2B2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</p:grpSp>
    </p:spTree>
    <p:extLst>
      <p:ext uri="{BB962C8B-B14F-4D97-AF65-F5344CB8AC3E}">
        <p14:creationId xmlns:p14="http://schemas.microsoft.com/office/powerpoint/2010/main" val="7952640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68" r:id="rId4"/>
    <p:sldLayoutId id="2147483671" r:id="rId5"/>
    <p:sldLayoutId id="2147483669" r:id="rId6"/>
    <p:sldLayoutId id="2147483670" r:id="rId7"/>
    <p:sldLayoutId id="2147483651" r:id="rId8"/>
    <p:sldLayoutId id="2147483652" r:id="rId9"/>
    <p:sldLayoutId id="2147483662" r:id="rId10"/>
    <p:sldLayoutId id="2147483653" r:id="rId11"/>
    <p:sldLayoutId id="2147483654" r:id="rId12"/>
    <p:sldLayoutId id="2147483667" r:id="rId13"/>
    <p:sldLayoutId id="2147483661" r:id="rId14"/>
    <p:sldLayoutId id="2147483660" r:id="rId15"/>
    <p:sldLayoutId id="2147483656" r:id="rId16"/>
    <p:sldLayoutId id="2147483659" r:id="rId17"/>
    <p:sldLayoutId id="2147483663" r:id="rId18"/>
    <p:sldLayoutId id="2147483664" r:id="rId19"/>
    <p:sldLayoutId id="2147483666" r:id="rId20"/>
    <p:sldLayoutId id="2147483657" r:id="rId21"/>
    <p:sldLayoutId id="2147483658" r:id="rId2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package/ng-dynamic-compone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github.com/gund/ng-dynamic-component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ngular.io/docs/ts/latest/api/common/index/NgComponentOutlet-directive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1</a:t>
            </a:fld>
            <a:endParaRPr lang="uk-UA"/>
          </a:p>
        </p:txBody>
      </p:sp>
      <p:sp>
        <p:nvSpPr>
          <p:cNvPr id="60" name="Content Placeholder 2"/>
          <p:cNvSpPr txBox="1">
            <a:spLocks/>
          </p:cNvSpPr>
          <p:nvPr/>
        </p:nvSpPr>
        <p:spPr>
          <a:xfrm>
            <a:off x="468313" y="1635647"/>
            <a:ext cx="8207375" cy="50405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000" dirty="0" smtClean="0">
                <a:solidFill>
                  <a:schemeClr val="tx2"/>
                </a:solidFill>
              </a:rPr>
              <a:t>The Creating of dynamic components has </a:t>
            </a:r>
            <a:r>
              <a:rPr lang="en-US" sz="1000" dirty="0">
                <a:solidFill>
                  <a:schemeClr val="tx2"/>
                </a:solidFill>
              </a:rPr>
              <a:t>been Has changed several times from the </a:t>
            </a:r>
            <a:r>
              <a:rPr lang="en-US" sz="1000" dirty="0" smtClean="0">
                <a:solidFill>
                  <a:schemeClr val="tx2"/>
                </a:solidFill>
              </a:rPr>
              <a:t>beginning </a:t>
            </a:r>
            <a:r>
              <a:rPr lang="en-US" sz="1000" dirty="0">
                <a:solidFill>
                  <a:schemeClr val="tx2"/>
                </a:solidFill>
              </a:rPr>
              <a:t>versus</a:t>
            </a:r>
            <a:r>
              <a:rPr lang="en-US" sz="1000" dirty="0" smtClean="0">
                <a:solidFill>
                  <a:schemeClr val="tx2"/>
                </a:solidFill>
              </a:rPr>
              <a:t> of RC what </a:t>
            </a:r>
            <a:r>
              <a:rPr lang="en-US" sz="1000" dirty="0">
                <a:solidFill>
                  <a:schemeClr val="tx2"/>
                </a:solidFill>
              </a:rPr>
              <a:t>is now Angular </a:t>
            </a:r>
            <a:r>
              <a:rPr lang="en-US" sz="1000" dirty="0" smtClean="0">
                <a:solidFill>
                  <a:schemeClr val="tx2"/>
                </a:solidFill>
              </a:rPr>
              <a:t>4 with RC6</a:t>
            </a:r>
          </a:p>
        </p:txBody>
      </p:sp>
      <p:sp>
        <p:nvSpPr>
          <p:cNvPr id="34" name="Text Placeholder 13"/>
          <p:cNvSpPr txBox="1">
            <a:spLocks/>
          </p:cNvSpPr>
          <p:nvPr/>
        </p:nvSpPr>
        <p:spPr>
          <a:xfrm>
            <a:off x="469012" y="1203598"/>
            <a:ext cx="3166884" cy="3587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  <a:latin typeface="+mj-lt"/>
              </a:rPr>
              <a:t>The Evolution of Dynamic component</a:t>
            </a:r>
            <a:endParaRPr lang="uk-UA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26560" y="1491630"/>
            <a:ext cx="3095576" cy="45719"/>
            <a:chOff x="5364088" y="2016000"/>
            <a:chExt cx="3168352" cy="41101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5364088" y="2016000"/>
              <a:ext cx="3168352" cy="0"/>
            </a:xfrm>
            <a:prstGeom prst="line">
              <a:avLst/>
            </a:prstGeom>
            <a:ln w="3175" cmpd="sng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5364088" y="2057101"/>
              <a:ext cx="3168352" cy="0"/>
            </a:xfrm>
            <a:prstGeom prst="line">
              <a:avLst/>
            </a:prstGeom>
            <a:ln w="3175" cmpd="sng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Content Placeholder 2"/>
          <p:cNvSpPr txBox="1">
            <a:spLocks/>
          </p:cNvSpPr>
          <p:nvPr/>
        </p:nvSpPr>
        <p:spPr>
          <a:xfrm>
            <a:off x="457200" y="3867893"/>
            <a:ext cx="2088232" cy="5760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uk-UA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dirty="0">
                <a:solidFill>
                  <a:schemeClr val="tx2"/>
                </a:solidFill>
                <a:latin typeface="Ubuntu" pitchFamily="34" charset="0"/>
                <a:ea typeface="Roboto" pitchFamily="2" charset="0"/>
              </a:rPr>
              <a:t>Near the beginning there was the </a:t>
            </a:r>
            <a:r>
              <a:rPr lang="en-US" dirty="0" smtClean="0">
                <a:solidFill>
                  <a:srgbClr val="92D050"/>
                </a:solidFill>
                <a:latin typeface="Ubuntu" pitchFamily="34" charset="0"/>
                <a:ea typeface="Roboto" pitchFamily="2" charset="0"/>
              </a:rPr>
              <a:t>DynamicComponentLoader</a:t>
            </a:r>
            <a:r>
              <a:rPr lang="en-US" dirty="0" smtClean="0">
                <a:solidFill>
                  <a:schemeClr val="tx2"/>
                </a:solidFill>
                <a:latin typeface="Ubuntu" pitchFamily="34" charset="0"/>
                <a:ea typeface="Roboto" pitchFamily="2" charset="0"/>
              </a:rPr>
              <a:t>.</a:t>
            </a:r>
          </a:p>
        </p:txBody>
      </p:sp>
      <p:sp>
        <p:nvSpPr>
          <p:cNvPr id="48" name="Oval 47"/>
          <p:cNvSpPr/>
          <p:nvPr/>
        </p:nvSpPr>
        <p:spPr>
          <a:xfrm>
            <a:off x="897460" y="2658358"/>
            <a:ext cx="1137528" cy="11375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RC4</a:t>
            </a:r>
            <a:endParaRPr lang="uk-UA" sz="2400" b="1" dirty="0"/>
          </a:p>
        </p:txBody>
      </p:sp>
      <p:sp>
        <p:nvSpPr>
          <p:cNvPr id="50" name="Content Placeholder 19"/>
          <p:cNvSpPr txBox="1">
            <a:spLocks/>
          </p:cNvSpPr>
          <p:nvPr/>
        </p:nvSpPr>
        <p:spPr>
          <a:xfrm>
            <a:off x="457200" y="2211709"/>
            <a:ext cx="2088232" cy="3600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uk-UA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rgbClr val="92D050"/>
                </a:solidFill>
              </a:rPr>
              <a:t>DynamicComponentLoader</a:t>
            </a:r>
            <a:endParaRPr lang="uk-UA" sz="1200" b="1" dirty="0">
              <a:solidFill>
                <a:srgbClr val="92D050"/>
              </a:solidFill>
            </a:endParaRPr>
          </a:p>
        </p:txBody>
      </p:sp>
      <p:sp>
        <p:nvSpPr>
          <p:cNvPr id="51" name="Content Placeholder 19"/>
          <p:cNvSpPr txBox="1">
            <a:spLocks/>
          </p:cNvSpPr>
          <p:nvPr/>
        </p:nvSpPr>
        <p:spPr>
          <a:xfrm>
            <a:off x="2545432" y="2211709"/>
            <a:ext cx="1954560" cy="3600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uk-UA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 smtClean="0">
                <a:solidFill>
                  <a:srgbClr val="92D050"/>
                </a:solidFill>
              </a:rPr>
              <a:t>ComponentResolver</a:t>
            </a:r>
          </a:p>
        </p:txBody>
      </p:sp>
      <p:sp>
        <p:nvSpPr>
          <p:cNvPr id="52" name="Oval 51"/>
          <p:cNvSpPr/>
          <p:nvPr/>
        </p:nvSpPr>
        <p:spPr>
          <a:xfrm>
            <a:off x="2959342" y="2658358"/>
            <a:ext cx="1137528" cy="11375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RC4</a:t>
            </a:r>
            <a:endParaRPr lang="uk-UA" sz="2400" dirty="0"/>
          </a:p>
        </p:txBody>
      </p:sp>
      <p:sp>
        <p:nvSpPr>
          <p:cNvPr id="53" name="Content Placeholder 2"/>
          <p:cNvSpPr txBox="1">
            <a:spLocks/>
          </p:cNvSpPr>
          <p:nvPr/>
        </p:nvSpPr>
        <p:spPr>
          <a:xfrm>
            <a:off x="2545432" y="3867893"/>
            <a:ext cx="1954560" cy="5760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kern="1200" baseline="0">
                <a:solidFill>
                  <a:srgbClr val="808080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dirty="0">
                <a:solidFill>
                  <a:schemeClr val="tx2"/>
                </a:solidFill>
                <a:latin typeface="Ubuntu" pitchFamily="34" charset="0"/>
                <a:ea typeface="Roboto" pitchFamily="2" charset="0"/>
              </a:rPr>
              <a:t>After that was deprecated, there was </a:t>
            </a:r>
            <a:r>
              <a:rPr lang="en-US" dirty="0">
                <a:solidFill>
                  <a:srgbClr val="92D050"/>
                </a:solidFill>
                <a:latin typeface="Ubuntu" pitchFamily="34" charset="0"/>
                <a:ea typeface="Roboto" pitchFamily="2" charset="0"/>
              </a:rPr>
              <a:t>ComponentResolver</a:t>
            </a:r>
            <a:r>
              <a:rPr lang="en-US" dirty="0">
                <a:solidFill>
                  <a:schemeClr val="tx2"/>
                </a:solidFill>
                <a:latin typeface="Ubuntu" pitchFamily="34" charset="0"/>
                <a:ea typeface="Roboto" pitchFamily="2" charset="0"/>
              </a:rPr>
              <a:t>.</a:t>
            </a:r>
            <a:endParaRPr lang="en-US" dirty="0" smtClean="0">
              <a:solidFill>
                <a:schemeClr val="tx2"/>
              </a:solidFill>
              <a:latin typeface="Ubuntu" pitchFamily="34" charset="0"/>
              <a:ea typeface="Roboto" pitchFamily="2" charset="0"/>
            </a:endParaRPr>
          </a:p>
        </p:txBody>
      </p:sp>
      <p:sp>
        <p:nvSpPr>
          <p:cNvPr id="55" name="Content Placeholder 19"/>
          <p:cNvSpPr txBox="1">
            <a:spLocks/>
          </p:cNvSpPr>
          <p:nvPr/>
        </p:nvSpPr>
        <p:spPr>
          <a:xfrm>
            <a:off x="4625788" y="2211709"/>
            <a:ext cx="2106452" cy="360042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92D050"/>
                </a:solidFill>
              </a:rPr>
              <a:t>ComponentFactoryResolver</a:t>
            </a:r>
            <a:endParaRPr lang="uk-UA" b="1" dirty="0">
              <a:solidFill>
                <a:srgbClr val="92D050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5012260" y="2658358"/>
            <a:ext cx="1137528" cy="11375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RC6</a:t>
            </a:r>
            <a:endParaRPr lang="uk-UA" sz="2400" b="1" dirty="0"/>
          </a:p>
        </p:txBody>
      </p:sp>
      <p:sp>
        <p:nvSpPr>
          <p:cNvPr id="57" name="Content Placeholder 2"/>
          <p:cNvSpPr txBox="1">
            <a:spLocks/>
          </p:cNvSpPr>
          <p:nvPr/>
        </p:nvSpPr>
        <p:spPr>
          <a:xfrm>
            <a:off x="4625788" y="3867893"/>
            <a:ext cx="2466492" cy="576065"/>
          </a:xfrm>
          <a:prstGeom prst="rect">
            <a:avLst/>
          </a:prstGeom>
        </p:spPr>
        <p:txBody>
          <a:bodyPr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1000" dirty="0">
                <a:solidFill>
                  <a:schemeClr val="tx2"/>
                </a:solidFill>
                <a:latin typeface="Ubuntu" pitchFamily="34" charset="0"/>
                <a:ea typeface="Roboto" pitchFamily="2" charset="0"/>
              </a:rPr>
              <a:t>And now that the dust has settled, there is the </a:t>
            </a:r>
            <a:r>
              <a:rPr lang="en-US" sz="1000" dirty="0">
                <a:solidFill>
                  <a:srgbClr val="92D050"/>
                </a:solidFill>
                <a:latin typeface="Ubuntu" pitchFamily="34" charset="0"/>
                <a:ea typeface="Roboto" pitchFamily="2" charset="0"/>
              </a:rPr>
              <a:t>ComponentFactoryResolver</a:t>
            </a:r>
            <a:r>
              <a:rPr lang="en-US" sz="1000" dirty="0">
                <a:solidFill>
                  <a:schemeClr val="tx2"/>
                </a:solidFill>
                <a:latin typeface="Ubuntu" pitchFamily="34" charset="0"/>
                <a:ea typeface="Roboto" pitchFamily="2" charset="0"/>
              </a:rPr>
              <a:t>!</a:t>
            </a:r>
            <a:endParaRPr lang="en-US" sz="1000" dirty="0" smtClean="0">
              <a:solidFill>
                <a:schemeClr val="tx2"/>
              </a:solidFill>
              <a:latin typeface="Ubuntu" pitchFamily="34" charset="0"/>
              <a:ea typeface="Roboto" pitchFamily="2" charset="0"/>
            </a:endParaRPr>
          </a:p>
        </p:txBody>
      </p:sp>
      <p:sp>
        <p:nvSpPr>
          <p:cNvPr id="29" name="Title 34"/>
          <p:cNvSpPr>
            <a:spLocks noGrp="1"/>
          </p:cNvSpPr>
          <p:nvPr>
            <p:ph type="title"/>
          </p:nvPr>
        </p:nvSpPr>
        <p:spPr>
          <a:xfrm>
            <a:off x="457200" y="205979"/>
            <a:ext cx="5915000" cy="612887"/>
          </a:xfrm>
        </p:spPr>
        <p:txBody>
          <a:bodyPr>
            <a:normAutofit/>
          </a:bodyPr>
          <a:lstStyle/>
          <a:p>
            <a:r>
              <a:rPr lang="en-US" cap="all" dirty="0" smtClean="0">
                <a:latin typeface="+mn-lt"/>
                <a:cs typeface="+mn-cs"/>
              </a:rPr>
              <a:t>Angular 4 - DYNAMIC </a:t>
            </a:r>
            <a:r>
              <a:rPr lang="en-US" cap="all" dirty="0">
                <a:latin typeface="+mn-lt"/>
                <a:cs typeface="+mn-cs"/>
              </a:rPr>
              <a:t>COMPONENT </a:t>
            </a:r>
            <a:r>
              <a:rPr lang="en-US" cap="all" dirty="0" smtClean="0">
                <a:latin typeface="+mn-lt"/>
                <a:cs typeface="+mn-cs"/>
              </a:rPr>
              <a:t>LOADER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31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32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8333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2</a:t>
            </a:fld>
            <a:endParaRPr lang="uk-UA"/>
          </a:p>
        </p:txBody>
      </p:sp>
      <p:sp>
        <p:nvSpPr>
          <p:cNvPr id="21" name="Rectangle 20"/>
          <p:cNvSpPr/>
          <p:nvPr/>
        </p:nvSpPr>
        <p:spPr>
          <a:xfrm>
            <a:off x="4283968" y="2067694"/>
            <a:ext cx="35291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2"/>
                </a:solidFill>
              </a:rPr>
              <a:t>A good solution to this problem would be a modal factory</a:t>
            </a:r>
            <a:r>
              <a:rPr lang="en-US" sz="1000" b="1" dirty="0" smtClean="0">
                <a:solidFill>
                  <a:schemeClr val="tx2"/>
                </a:solidFill>
              </a:rPr>
              <a:t>.</a:t>
            </a:r>
          </a:p>
          <a:p>
            <a:r>
              <a:rPr lang="en-US" sz="1000" b="1" dirty="0" smtClean="0">
                <a:solidFill>
                  <a:schemeClr val="tx2"/>
                </a:solidFill>
              </a:rPr>
              <a:t> </a:t>
            </a:r>
            <a:endParaRPr lang="en-US" sz="1000" b="1" dirty="0">
              <a:solidFill>
                <a:schemeClr val="tx2"/>
              </a:solidFill>
            </a:endParaRPr>
          </a:p>
          <a:p>
            <a:r>
              <a:rPr lang="en-US" sz="1000" b="1" dirty="0">
                <a:solidFill>
                  <a:schemeClr val="tx2"/>
                </a:solidFill>
              </a:rPr>
              <a:t>The modal factory would: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3968" y="2762901"/>
            <a:ext cx="3384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</a:rPr>
              <a:t>Be given the component class, representing the modal we want, along with any information it needs</a:t>
            </a:r>
          </a:p>
        </p:txBody>
      </p:sp>
      <p:sp>
        <p:nvSpPr>
          <p:cNvPr id="24" name="Freeform 491"/>
          <p:cNvSpPr>
            <a:spLocks/>
          </p:cNvSpPr>
          <p:nvPr/>
        </p:nvSpPr>
        <p:spPr bwMode="auto">
          <a:xfrm>
            <a:off x="4124312" y="2847202"/>
            <a:ext cx="159656" cy="156998"/>
          </a:xfrm>
          <a:custGeom>
            <a:avLst/>
            <a:gdLst>
              <a:gd name="T0" fmla="*/ 30 w 60"/>
              <a:gd name="T1" fmla="*/ 0 h 59"/>
              <a:gd name="T2" fmla="*/ 38 w 60"/>
              <a:gd name="T3" fmla="*/ 23 h 59"/>
              <a:gd name="T4" fmla="*/ 60 w 60"/>
              <a:gd name="T5" fmla="*/ 23 h 59"/>
              <a:gd name="T6" fmla="*/ 42 w 60"/>
              <a:gd name="T7" fmla="*/ 36 h 59"/>
              <a:gd name="T8" fmla="*/ 48 w 60"/>
              <a:gd name="T9" fmla="*/ 59 h 59"/>
              <a:gd name="T10" fmla="*/ 30 w 60"/>
              <a:gd name="T11" fmla="*/ 45 h 59"/>
              <a:gd name="T12" fmla="*/ 12 w 60"/>
              <a:gd name="T13" fmla="*/ 59 h 59"/>
              <a:gd name="T14" fmla="*/ 18 w 60"/>
              <a:gd name="T15" fmla="*/ 36 h 59"/>
              <a:gd name="T16" fmla="*/ 0 w 60"/>
              <a:gd name="T17" fmla="*/ 23 h 59"/>
              <a:gd name="T18" fmla="*/ 22 w 60"/>
              <a:gd name="T19" fmla="*/ 23 h 59"/>
              <a:gd name="T20" fmla="*/ 30 w 60"/>
              <a:gd name="T21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59">
                <a:moveTo>
                  <a:pt x="30" y="0"/>
                </a:moveTo>
                <a:lnTo>
                  <a:pt x="38" y="23"/>
                </a:lnTo>
                <a:lnTo>
                  <a:pt x="60" y="23"/>
                </a:lnTo>
                <a:lnTo>
                  <a:pt x="42" y="36"/>
                </a:lnTo>
                <a:lnTo>
                  <a:pt x="48" y="59"/>
                </a:lnTo>
                <a:lnTo>
                  <a:pt x="30" y="45"/>
                </a:lnTo>
                <a:lnTo>
                  <a:pt x="12" y="59"/>
                </a:lnTo>
                <a:lnTo>
                  <a:pt x="18" y="36"/>
                </a:lnTo>
                <a:lnTo>
                  <a:pt x="0" y="23"/>
                </a:lnTo>
                <a:lnTo>
                  <a:pt x="22" y="23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283968" y="3189625"/>
            <a:ext cx="33843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</a:rPr>
              <a:t>Use this information and create the modal on the fly</a:t>
            </a:r>
          </a:p>
        </p:txBody>
      </p:sp>
      <p:sp>
        <p:nvSpPr>
          <p:cNvPr id="26" name="Freeform 491"/>
          <p:cNvSpPr>
            <a:spLocks/>
          </p:cNvSpPr>
          <p:nvPr/>
        </p:nvSpPr>
        <p:spPr bwMode="auto">
          <a:xfrm>
            <a:off x="4124312" y="3273926"/>
            <a:ext cx="159656" cy="156998"/>
          </a:xfrm>
          <a:custGeom>
            <a:avLst/>
            <a:gdLst>
              <a:gd name="T0" fmla="*/ 30 w 60"/>
              <a:gd name="T1" fmla="*/ 0 h 59"/>
              <a:gd name="T2" fmla="*/ 38 w 60"/>
              <a:gd name="T3" fmla="*/ 23 h 59"/>
              <a:gd name="T4" fmla="*/ 60 w 60"/>
              <a:gd name="T5" fmla="*/ 23 h 59"/>
              <a:gd name="T6" fmla="*/ 42 w 60"/>
              <a:gd name="T7" fmla="*/ 36 h 59"/>
              <a:gd name="T8" fmla="*/ 48 w 60"/>
              <a:gd name="T9" fmla="*/ 59 h 59"/>
              <a:gd name="T10" fmla="*/ 30 w 60"/>
              <a:gd name="T11" fmla="*/ 45 h 59"/>
              <a:gd name="T12" fmla="*/ 12 w 60"/>
              <a:gd name="T13" fmla="*/ 59 h 59"/>
              <a:gd name="T14" fmla="*/ 18 w 60"/>
              <a:gd name="T15" fmla="*/ 36 h 59"/>
              <a:gd name="T16" fmla="*/ 0 w 60"/>
              <a:gd name="T17" fmla="*/ 23 h 59"/>
              <a:gd name="T18" fmla="*/ 22 w 60"/>
              <a:gd name="T19" fmla="*/ 23 h 59"/>
              <a:gd name="T20" fmla="*/ 30 w 60"/>
              <a:gd name="T21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59">
                <a:moveTo>
                  <a:pt x="30" y="0"/>
                </a:moveTo>
                <a:lnTo>
                  <a:pt x="38" y="23"/>
                </a:lnTo>
                <a:lnTo>
                  <a:pt x="60" y="23"/>
                </a:lnTo>
                <a:lnTo>
                  <a:pt x="42" y="36"/>
                </a:lnTo>
                <a:lnTo>
                  <a:pt x="48" y="59"/>
                </a:lnTo>
                <a:lnTo>
                  <a:pt x="30" y="45"/>
                </a:lnTo>
                <a:lnTo>
                  <a:pt x="12" y="59"/>
                </a:lnTo>
                <a:lnTo>
                  <a:pt x="18" y="36"/>
                </a:lnTo>
                <a:lnTo>
                  <a:pt x="0" y="23"/>
                </a:lnTo>
                <a:lnTo>
                  <a:pt x="22" y="23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283968" y="3579862"/>
            <a:ext cx="3384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</a:rPr>
              <a:t>Keep reference to the created component and destroy it at some point</a:t>
            </a:r>
          </a:p>
        </p:txBody>
      </p:sp>
      <p:sp>
        <p:nvSpPr>
          <p:cNvPr id="28" name="Freeform 491"/>
          <p:cNvSpPr>
            <a:spLocks/>
          </p:cNvSpPr>
          <p:nvPr/>
        </p:nvSpPr>
        <p:spPr bwMode="auto">
          <a:xfrm>
            <a:off x="4124312" y="3664163"/>
            <a:ext cx="159656" cy="156998"/>
          </a:xfrm>
          <a:custGeom>
            <a:avLst/>
            <a:gdLst>
              <a:gd name="T0" fmla="*/ 30 w 60"/>
              <a:gd name="T1" fmla="*/ 0 h 59"/>
              <a:gd name="T2" fmla="*/ 38 w 60"/>
              <a:gd name="T3" fmla="*/ 23 h 59"/>
              <a:gd name="T4" fmla="*/ 60 w 60"/>
              <a:gd name="T5" fmla="*/ 23 h 59"/>
              <a:gd name="T6" fmla="*/ 42 w 60"/>
              <a:gd name="T7" fmla="*/ 36 h 59"/>
              <a:gd name="T8" fmla="*/ 48 w 60"/>
              <a:gd name="T9" fmla="*/ 59 h 59"/>
              <a:gd name="T10" fmla="*/ 30 w 60"/>
              <a:gd name="T11" fmla="*/ 45 h 59"/>
              <a:gd name="T12" fmla="*/ 12 w 60"/>
              <a:gd name="T13" fmla="*/ 59 h 59"/>
              <a:gd name="T14" fmla="*/ 18 w 60"/>
              <a:gd name="T15" fmla="*/ 36 h 59"/>
              <a:gd name="T16" fmla="*/ 0 w 60"/>
              <a:gd name="T17" fmla="*/ 23 h 59"/>
              <a:gd name="T18" fmla="*/ 22 w 60"/>
              <a:gd name="T19" fmla="*/ 23 h 59"/>
              <a:gd name="T20" fmla="*/ 30 w 60"/>
              <a:gd name="T21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59">
                <a:moveTo>
                  <a:pt x="30" y="0"/>
                </a:moveTo>
                <a:lnTo>
                  <a:pt x="38" y="23"/>
                </a:lnTo>
                <a:lnTo>
                  <a:pt x="60" y="23"/>
                </a:lnTo>
                <a:lnTo>
                  <a:pt x="42" y="36"/>
                </a:lnTo>
                <a:lnTo>
                  <a:pt x="48" y="59"/>
                </a:lnTo>
                <a:lnTo>
                  <a:pt x="30" y="45"/>
                </a:lnTo>
                <a:lnTo>
                  <a:pt x="12" y="59"/>
                </a:lnTo>
                <a:lnTo>
                  <a:pt x="18" y="36"/>
                </a:lnTo>
                <a:lnTo>
                  <a:pt x="0" y="23"/>
                </a:lnTo>
                <a:lnTo>
                  <a:pt x="22" y="23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03740" y="2109504"/>
            <a:ext cx="3384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</a:rPr>
              <a:t>your </a:t>
            </a:r>
            <a:r>
              <a:rPr lang="en-US" sz="1000" dirty="0" smtClean="0">
                <a:solidFill>
                  <a:schemeClr val="tx2"/>
                </a:solidFill>
              </a:rPr>
              <a:t> can throughout you're app have </a:t>
            </a:r>
            <a:r>
              <a:rPr lang="en-US" sz="1000" dirty="0">
                <a:solidFill>
                  <a:schemeClr val="tx2"/>
                </a:solidFill>
              </a:rPr>
              <a:t>buttons that trigger different modals </a:t>
            </a:r>
            <a:r>
              <a:rPr lang="en-US" sz="1000" dirty="0" smtClean="0">
                <a:solidFill>
                  <a:schemeClr val="tx2"/>
                </a:solidFill>
              </a:rPr>
              <a:t>from different components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34" name="Freeform 491"/>
          <p:cNvSpPr>
            <a:spLocks/>
          </p:cNvSpPr>
          <p:nvPr/>
        </p:nvSpPr>
        <p:spPr bwMode="auto">
          <a:xfrm>
            <a:off x="444084" y="2193805"/>
            <a:ext cx="159656" cy="156998"/>
          </a:xfrm>
          <a:custGeom>
            <a:avLst/>
            <a:gdLst>
              <a:gd name="T0" fmla="*/ 30 w 60"/>
              <a:gd name="T1" fmla="*/ 0 h 59"/>
              <a:gd name="T2" fmla="*/ 38 w 60"/>
              <a:gd name="T3" fmla="*/ 23 h 59"/>
              <a:gd name="T4" fmla="*/ 60 w 60"/>
              <a:gd name="T5" fmla="*/ 23 h 59"/>
              <a:gd name="T6" fmla="*/ 42 w 60"/>
              <a:gd name="T7" fmla="*/ 36 h 59"/>
              <a:gd name="T8" fmla="*/ 48 w 60"/>
              <a:gd name="T9" fmla="*/ 59 h 59"/>
              <a:gd name="T10" fmla="*/ 30 w 60"/>
              <a:gd name="T11" fmla="*/ 45 h 59"/>
              <a:gd name="T12" fmla="*/ 12 w 60"/>
              <a:gd name="T13" fmla="*/ 59 h 59"/>
              <a:gd name="T14" fmla="*/ 18 w 60"/>
              <a:gd name="T15" fmla="*/ 36 h 59"/>
              <a:gd name="T16" fmla="*/ 0 w 60"/>
              <a:gd name="T17" fmla="*/ 23 h 59"/>
              <a:gd name="T18" fmla="*/ 22 w 60"/>
              <a:gd name="T19" fmla="*/ 23 h 59"/>
              <a:gd name="T20" fmla="*/ 30 w 60"/>
              <a:gd name="T21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59">
                <a:moveTo>
                  <a:pt x="30" y="0"/>
                </a:moveTo>
                <a:lnTo>
                  <a:pt x="38" y="23"/>
                </a:lnTo>
                <a:lnTo>
                  <a:pt x="60" y="23"/>
                </a:lnTo>
                <a:lnTo>
                  <a:pt x="42" y="36"/>
                </a:lnTo>
                <a:lnTo>
                  <a:pt x="48" y="59"/>
                </a:lnTo>
                <a:lnTo>
                  <a:pt x="30" y="45"/>
                </a:lnTo>
                <a:lnTo>
                  <a:pt x="12" y="59"/>
                </a:lnTo>
                <a:lnTo>
                  <a:pt x="18" y="36"/>
                </a:lnTo>
                <a:lnTo>
                  <a:pt x="0" y="23"/>
                </a:lnTo>
                <a:lnTo>
                  <a:pt x="22" y="23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97799" y="2562846"/>
            <a:ext cx="3384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</a:rPr>
              <a:t>You can build flexible component that can handle different </a:t>
            </a:r>
            <a:r>
              <a:rPr lang="en-US" sz="1000" dirty="0" smtClean="0">
                <a:solidFill>
                  <a:schemeClr val="tx2"/>
                </a:solidFill>
              </a:rPr>
              <a:t>components and data </a:t>
            </a:r>
            <a:r>
              <a:rPr lang="en-US" sz="1000" dirty="0">
                <a:solidFill>
                  <a:schemeClr val="tx2"/>
                </a:solidFill>
              </a:rPr>
              <a:t>inside of it</a:t>
            </a:r>
          </a:p>
        </p:txBody>
      </p:sp>
      <p:sp>
        <p:nvSpPr>
          <p:cNvPr id="49" name="Freeform 491"/>
          <p:cNvSpPr>
            <a:spLocks/>
          </p:cNvSpPr>
          <p:nvPr/>
        </p:nvSpPr>
        <p:spPr bwMode="auto">
          <a:xfrm>
            <a:off x="438143" y="2602916"/>
            <a:ext cx="159656" cy="156998"/>
          </a:xfrm>
          <a:custGeom>
            <a:avLst/>
            <a:gdLst>
              <a:gd name="T0" fmla="*/ 30 w 60"/>
              <a:gd name="T1" fmla="*/ 0 h 59"/>
              <a:gd name="T2" fmla="*/ 38 w 60"/>
              <a:gd name="T3" fmla="*/ 23 h 59"/>
              <a:gd name="T4" fmla="*/ 60 w 60"/>
              <a:gd name="T5" fmla="*/ 23 h 59"/>
              <a:gd name="T6" fmla="*/ 42 w 60"/>
              <a:gd name="T7" fmla="*/ 36 h 59"/>
              <a:gd name="T8" fmla="*/ 48 w 60"/>
              <a:gd name="T9" fmla="*/ 59 h 59"/>
              <a:gd name="T10" fmla="*/ 30 w 60"/>
              <a:gd name="T11" fmla="*/ 45 h 59"/>
              <a:gd name="T12" fmla="*/ 12 w 60"/>
              <a:gd name="T13" fmla="*/ 59 h 59"/>
              <a:gd name="T14" fmla="*/ 18 w 60"/>
              <a:gd name="T15" fmla="*/ 36 h 59"/>
              <a:gd name="T16" fmla="*/ 0 w 60"/>
              <a:gd name="T17" fmla="*/ 23 h 59"/>
              <a:gd name="T18" fmla="*/ 22 w 60"/>
              <a:gd name="T19" fmla="*/ 23 h 59"/>
              <a:gd name="T20" fmla="*/ 30 w 60"/>
              <a:gd name="T21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59">
                <a:moveTo>
                  <a:pt x="30" y="0"/>
                </a:moveTo>
                <a:lnTo>
                  <a:pt x="38" y="23"/>
                </a:lnTo>
                <a:lnTo>
                  <a:pt x="60" y="23"/>
                </a:lnTo>
                <a:lnTo>
                  <a:pt x="42" y="36"/>
                </a:lnTo>
                <a:lnTo>
                  <a:pt x="48" y="59"/>
                </a:lnTo>
                <a:lnTo>
                  <a:pt x="30" y="45"/>
                </a:lnTo>
                <a:lnTo>
                  <a:pt x="12" y="59"/>
                </a:lnTo>
                <a:lnTo>
                  <a:pt x="18" y="36"/>
                </a:lnTo>
                <a:lnTo>
                  <a:pt x="0" y="23"/>
                </a:lnTo>
                <a:lnTo>
                  <a:pt x="22" y="23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50" name="Content Placeholder 2"/>
          <p:cNvSpPr txBox="1">
            <a:spLocks/>
          </p:cNvSpPr>
          <p:nvPr/>
        </p:nvSpPr>
        <p:spPr>
          <a:xfrm>
            <a:off x="539552" y="1470855"/>
            <a:ext cx="8207375" cy="30880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000" dirty="0">
                <a:solidFill>
                  <a:schemeClr val="tx2"/>
                </a:solidFill>
              </a:rPr>
              <a:t>Why would I ever want to dynamically create a component</a:t>
            </a:r>
            <a:r>
              <a:rPr lang="en-US" sz="1000" dirty="0" smtClean="0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51" name="Text Placeholder 13"/>
          <p:cNvSpPr txBox="1">
            <a:spLocks/>
          </p:cNvSpPr>
          <p:nvPr/>
        </p:nvSpPr>
        <p:spPr>
          <a:xfrm>
            <a:off x="540251" y="1038806"/>
            <a:ext cx="3166884" cy="3587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chemeClr val="tx2"/>
                </a:solidFill>
                <a:latin typeface="+mj-lt"/>
              </a:rPr>
              <a:t>Way Dynamic </a:t>
            </a:r>
            <a:r>
              <a:rPr lang="en-US" dirty="0">
                <a:solidFill>
                  <a:schemeClr val="tx2"/>
                </a:solidFill>
                <a:latin typeface="+mj-lt"/>
              </a:rPr>
              <a:t>component</a:t>
            </a:r>
            <a:endParaRPr lang="uk-UA" dirty="0">
              <a:solidFill>
                <a:schemeClr val="tx2"/>
              </a:solidFill>
              <a:latin typeface="+mj-lt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597799" y="1326838"/>
            <a:ext cx="3095576" cy="45719"/>
            <a:chOff x="5364088" y="2016000"/>
            <a:chExt cx="3168352" cy="41101"/>
          </a:xfrm>
        </p:grpSpPr>
        <p:cxnSp>
          <p:nvCxnSpPr>
            <p:cNvPr id="53" name="Straight Connector 52"/>
            <p:cNvCxnSpPr/>
            <p:nvPr/>
          </p:nvCxnSpPr>
          <p:spPr>
            <a:xfrm>
              <a:off x="5364088" y="2016000"/>
              <a:ext cx="3168352" cy="0"/>
            </a:xfrm>
            <a:prstGeom prst="line">
              <a:avLst/>
            </a:prstGeom>
            <a:ln w="3175" cmpd="sng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5364088" y="2057101"/>
              <a:ext cx="3168352" cy="0"/>
            </a:xfrm>
            <a:prstGeom prst="line">
              <a:avLst/>
            </a:prstGeom>
            <a:ln w="3175" cmpd="sng">
              <a:solidFill>
                <a:schemeClr val="tx2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itle 34"/>
          <p:cNvSpPr>
            <a:spLocks noGrp="1"/>
          </p:cNvSpPr>
          <p:nvPr>
            <p:ph type="title"/>
          </p:nvPr>
        </p:nvSpPr>
        <p:spPr>
          <a:xfrm>
            <a:off x="457200" y="205979"/>
            <a:ext cx="5915000" cy="612887"/>
          </a:xfrm>
        </p:spPr>
        <p:txBody>
          <a:bodyPr>
            <a:normAutofit/>
          </a:bodyPr>
          <a:lstStyle/>
          <a:p>
            <a:r>
              <a:rPr lang="en-US" cap="all" dirty="0" smtClean="0">
                <a:latin typeface="+mn-lt"/>
                <a:cs typeface="+mn-cs"/>
              </a:rPr>
              <a:t>Angular 4 - DYNAMIC </a:t>
            </a:r>
            <a:r>
              <a:rPr lang="en-US" cap="all" dirty="0">
                <a:latin typeface="+mn-lt"/>
                <a:cs typeface="+mn-cs"/>
              </a:rPr>
              <a:t>COMPONENT </a:t>
            </a:r>
            <a:r>
              <a:rPr lang="en-US" cap="all" dirty="0" smtClean="0">
                <a:latin typeface="+mn-lt"/>
                <a:cs typeface="+mn-cs"/>
              </a:rPr>
              <a:t>LOADER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56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57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3380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3</a:t>
            </a:fld>
            <a:endParaRPr lang="uk-UA"/>
          </a:p>
        </p:txBody>
      </p:sp>
      <p:sp>
        <p:nvSpPr>
          <p:cNvPr id="63" name="Rectangle 62"/>
          <p:cNvSpPr/>
          <p:nvPr/>
        </p:nvSpPr>
        <p:spPr>
          <a:xfrm>
            <a:off x="251520" y="1196710"/>
            <a:ext cx="3744416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b="1" dirty="0" smtClean="0">
                <a:solidFill>
                  <a:schemeClr val="tx2"/>
                </a:solidFill>
              </a:rPr>
              <a:t>Installation from NPM – “</a:t>
            </a:r>
            <a:r>
              <a:rPr lang="en-US" sz="1200" b="1" dirty="0" smtClean="0">
                <a:solidFill>
                  <a:schemeClr val="accent1"/>
                </a:solidFill>
              </a:rPr>
              <a:t>ng-dynamic-component</a:t>
            </a:r>
            <a:r>
              <a:rPr lang="en-US" sz="1200" b="1" dirty="0" smtClean="0"/>
              <a:t>”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 </a:t>
            </a:r>
          </a:p>
          <a:p>
            <a:pPr>
              <a:spcBef>
                <a:spcPts val="600"/>
              </a:spcBef>
            </a:pPr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20" name="Title 34"/>
          <p:cNvSpPr>
            <a:spLocks noGrp="1"/>
          </p:cNvSpPr>
          <p:nvPr>
            <p:ph type="title"/>
          </p:nvPr>
        </p:nvSpPr>
        <p:spPr>
          <a:xfrm>
            <a:off x="457200" y="205979"/>
            <a:ext cx="5915000" cy="612887"/>
          </a:xfrm>
        </p:spPr>
        <p:txBody>
          <a:bodyPr>
            <a:normAutofit/>
          </a:bodyPr>
          <a:lstStyle/>
          <a:p>
            <a:r>
              <a:rPr lang="en-US" cap="all" dirty="0" smtClean="0">
                <a:latin typeface="+mn-lt"/>
                <a:cs typeface="+mn-cs"/>
              </a:rPr>
              <a:t>Angular 4 - DYNAMIC </a:t>
            </a:r>
            <a:r>
              <a:rPr lang="en-US" cap="all" dirty="0">
                <a:latin typeface="+mn-lt"/>
                <a:cs typeface="+mn-cs"/>
              </a:rPr>
              <a:t>COMPONENT </a:t>
            </a:r>
            <a:r>
              <a:rPr lang="en-US" cap="all" dirty="0" smtClean="0">
                <a:latin typeface="+mn-lt"/>
                <a:cs typeface="+mn-cs"/>
              </a:rPr>
              <a:t>LOADER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26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27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23529" y="1492873"/>
            <a:ext cx="2448272" cy="214781"/>
          </a:xfrm>
          <a:prstGeom prst="rect">
            <a:avLst/>
          </a:prstGeom>
          <a:solidFill>
            <a:srgbClr val="000000"/>
          </a:solidFill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 </a:t>
            </a:r>
            <a:r>
              <a:rPr lang="en-US" sz="1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npm</a:t>
            </a:r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install ng-dynamic-component --</a:t>
            </a:r>
            <a:r>
              <a:rPr lang="en-US" sz="1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save</a:t>
            </a:r>
          </a:p>
          <a:p>
            <a:pPr marL="0" indent="0" fontAlgn="base">
              <a:buNone/>
            </a:pPr>
            <a:endParaRPr lang="en-US" sz="1000" dirty="0" smtClean="0">
              <a:solidFill>
                <a:schemeClr val="tx2"/>
              </a:solidFill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25065" y="1707654"/>
            <a:ext cx="2662759" cy="50405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1000" dirty="0" smtClean="0"/>
              <a:t>In</a:t>
            </a:r>
            <a:r>
              <a:rPr lang="en-US" sz="1000" dirty="0" smtClean="0">
                <a:solidFill>
                  <a:schemeClr val="tx2"/>
                </a:solidFill>
              </a:rPr>
              <a:t> </a:t>
            </a:r>
            <a:r>
              <a:rPr lang="en-US" sz="1000" b="1" dirty="0" err="1" smtClean="0"/>
              <a:t>tsconfig.ts</a:t>
            </a:r>
            <a:r>
              <a:rPr lang="en-US" sz="1000" b="1" dirty="0" smtClean="0"/>
              <a:t> </a:t>
            </a:r>
            <a:r>
              <a:rPr lang="en-US" sz="1000" dirty="0" smtClean="0"/>
              <a:t>enter</a:t>
            </a:r>
            <a:r>
              <a:rPr lang="en-US" sz="1000" b="1" dirty="0" smtClean="0"/>
              <a:t> </a:t>
            </a:r>
            <a:r>
              <a:rPr lang="en-US" sz="1000" b="1" dirty="0" err="1"/>
              <a:t>importHelpers</a:t>
            </a:r>
            <a:r>
              <a:rPr lang="en-US" sz="1000" b="1" dirty="0"/>
              <a:t>: </a:t>
            </a:r>
            <a:r>
              <a:rPr lang="en-US" sz="1000" b="1" dirty="0" smtClean="0">
                <a:solidFill>
                  <a:schemeClr val="accent1"/>
                </a:solidFill>
              </a:rPr>
              <a:t>true</a:t>
            </a:r>
            <a:r>
              <a:rPr lang="en-US" sz="1000" b="1" dirty="0" smtClean="0"/>
              <a:t>;</a:t>
            </a:r>
            <a:endParaRPr lang="en-US" sz="1000" b="1" dirty="0"/>
          </a:p>
          <a:p>
            <a:pPr marL="0" indent="0">
              <a:buNone/>
            </a:pPr>
            <a:endParaRPr lang="en-US" sz="1000" b="1" dirty="0" smtClean="0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3476" y="2683447"/>
            <a:ext cx="225033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Version 1+ supports Angular 4+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6" name="Freeform 491"/>
          <p:cNvSpPr>
            <a:spLocks/>
          </p:cNvSpPr>
          <p:nvPr/>
        </p:nvSpPr>
        <p:spPr bwMode="auto">
          <a:xfrm>
            <a:off x="433820" y="2728059"/>
            <a:ext cx="159656" cy="156998"/>
          </a:xfrm>
          <a:custGeom>
            <a:avLst/>
            <a:gdLst>
              <a:gd name="T0" fmla="*/ 30 w 60"/>
              <a:gd name="T1" fmla="*/ 0 h 59"/>
              <a:gd name="T2" fmla="*/ 38 w 60"/>
              <a:gd name="T3" fmla="*/ 23 h 59"/>
              <a:gd name="T4" fmla="*/ 60 w 60"/>
              <a:gd name="T5" fmla="*/ 23 h 59"/>
              <a:gd name="T6" fmla="*/ 42 w 60"/>
              <a:gd name="T7" fmla="*/ 36 h 59"/>
              <a:gd name="T8" fmla="*/ 48 w 60"/>
              <a:gd name="T9" fmla="*/ 59 h 59"/>
              <a:gd name="T10" fmla="*/ 30 w 60"/>
              <a:gd name="T11" fmla="*/ 45 h 59"/>
              <a:gd name="T12" fmla="*/ 12 w 60"/>
              <a:gd name="T13" fmla="*/ 59 h 59"/>
              <a:gd name="T14" fmla="*/ 18 w 60"/>
              <a:gd name="T15" fmla="*/ 36 h 59"/>
              <a:gd name="T16" fmla="*/ 0 w 60"/>
              <a:gd name="T17" fmla="*/ 23 h 59"/>
              <a:gd name="T18" fmla="*/ 22 w 60"/>
              <a:gd name="T19" fmla="*/ 23 h 59"/>
              <a:gd name="T20" fmla="*/ 30 w 60"/>
              <a:gd name="T21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59">
                <a:moveTo>
                  <a:pt x="30" y="0"/>
                </a:moveTo>
                <a:lnTo>
                  <a:pt x="38" y="23"/>
                </a:lnTo>
                <a:lnTo>
                  <a:pt x="60" y="23"/>
                </a:lnTo>
                <a:lnTo>
                  <a:pt x="42" y="36"/>
                </a:lnTo>
                <a:lnTo>
                  <a:pt x="48" y="59"/>
                </a:lnTo>
                <a:lnTo>
                  <a:pt x="30" y="45"/>
                </a:lnTo>
                <a:lnTo>
                  <a:pt x="12" y="59"/>
                </a:lnTo>
                <a:lnTo>
                  <a:pt x="18" y="36"/>
                </a:lnTo>
                <a:lnTo>
                  <a:pt x="0" y="23"/>
                </a:lnTo>
                <a:lnTo>
                  <a:pt x="22" y="23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3476" y="3077560"/>
            <a:ext cx="340246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please make sure you have latest version of </a:t>
            </a:r>
            <a:r>
              <a:rPr lang="en-US" sz="1000" dirty="0" smtClean="0"/>
              <a:t>”</a:t>
            </a:r>
            <a:r>
              <a:rPr lang="en-US" sz="1000" dirty="0" err="1" smtClean="0"/>
              <a:t>tslib</a:t>
            </a:r>
            <a:r>
              <a:rPr lang="en-US" sz="1000" dirty="0" smtClean="0"/>
              <a:t>”</a:t>
            </a:r>
            <a:r>
              <a:rPr lang="en-US" sz="1000" dirty="0"/>
              <a:t> library 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8" name="Freeform 491"/>
          <p:cNvSpPr>
            <a:spLocks/>
          </p:cNvSpPr>
          <p:nvPr/>
        </p:nvSpPr>
        <p:spPr bwMode="auto">
          <a:xfrm>
            <a:off x="433820" y="3122172"/>
            <a:ext cx="159656" cy="156998"/>
          </a:xfrm>
          <a:custGeom>
            <a:avLst/>
            <a:gdLst>
              <a:gd name="T0" fmla="*/ 30 w 60"/>
              <a:gd name="T1" fmla="*/ 0 h 59"/>
              <a:gd name="T2" fmla="*/ 38 w 60"/>
              <a:gd name="T3" fmla="*/ 23 h 59"/>
              <a:gd name="T4" fmla="*/ 60 w 60"/>
              <a:gd name="T5" fmla="*/ 23 h 59"/>
              <a:gd name="T6" fmla="*/ 42 w 60"/>
              <a:gd name="T7" fmla="*/ 36 h 59"/>
              <a:gd name="T8" fmla="*/ 48 w 60"/>
              <a:gd name="T9" fmla="*/ 59 h 59"/>
              <a:gd name="T10" fmla="*/ 30 w 60"/>
              <a:gd name="T11" fmla="*/ 45 h 59"/>
              <a:gd name="T12" fmla="*/ 12 w 60"/>
              <a:gd name="T13" fmla="*/ 59 h 59"/>
              <a:gd name="T14" fmla="*/ 18 w 60"/>
              <a:gd name="T15" fmla="*/ 36 h 59"/>
              <a:gd name="T16" fmla="*/ 0 w 60"/>
              <a:gd name="T17" fmla="*/ 23 h 59"/>
              <a:gd name="T18" fmla="*/ 22 w 60"/>
              <a:gd name="T19" fmla="*/ 23 h 59"/>
              <a:gd name="T20" fmla="*/ 30 w 60"/>
              <a:gd name="T21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59">
                <a:moveTo>
                  <a:pt x="30" y="0"/>
                </a:moveTo>
                <a:lnTo>
                  <a:pt x="38" y="23"/>
                </a:lnTo>
                <a:lnTo>
                  <a:pt x="60" y="23"/>
                </a:lnTo>
                <a:lnTo>
                  <a:pt x="42" y="36"/>
                </a:lnTo>
                <a:lnTo>
                  <a:pt x="48" y="59"/>
                </a:lnTo>
                <a:lnTo>
                  <a:pt x="30" y="45"/>
                </a:lnTo>
                <a:lnTo>
                  <a:pt x="12" y="59"/>
                </a:lnTo>
                <a:lnTo>
                  <a:pt x="18" y="36"/>
                </a:lnTo>
                <a:lnTo>
                  <a:pt x="0" y="23"/>
                </a:lnTo>
                <a:lnTo>
                  <a:pt x="22" y="23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3476" y="3507854"/>
            <a:ext cx="42665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Updates on :  </a:t>
            </a:r>
            <a:r>
              <a:rPr lang="en-US" sz="1000" dirty="0">
                <a:hlinkClick r:id="rId3"/>
              </a:rPr>
              <a:t>https://</a:t>
            </a:r>
            <a:r>
              <a:rPr lang="en-US" sz="1000" dirty="0" smtClean="0">
                <a:hlinkClick r:id="rId3"/>
              </a:rPr>
              <a:t>www.npmjs.com/package/ng-dynamic-component</a:t>
            </a:r>
            <a:endParaRPr lang="en-US" sz="1000" dirty="0" smtClean="0"/>
          </a:p>
          <a:p>
            <a:r>
              <a:rPr lang="en-US" sz="1000" dirty="0"/>
              <a:t>Or on</a:t>
            </a:r>
            <a:r>
              <a:rPr lang="en-US" sz="1000" dirty="0">
                <a:solidFill>
                  <a:schemeClr val="tx2"/>
                </a:solidFill>
              </a:rPr>
              <a:t> : </a:t>
            </a:r>
            <a:r>
              <a:rPr lang="en-US" sz="1000" dirty="0">
                <a:solidFill>
                  <a:schemeClr val="tx2"/>
                </a:solidFill>
                <a:hlinkClick r:id="rId4"/>
              </a:rPr>
              <a:t>https://</a:t>
            </a:r>
            <a:r>
              <a:rPr lang="en-US" sz="1000" dirty="0" smtClean="0">
                <a:solidFill>
                  <a:schemeClr val="tx2"/>
                </a:solidFill>
                <a:hlinkClick r:id="rId4"/>
              </a:rPr>
              <a:t>github.com/gund/ng-dynamic-component</a:t>
            </a:r>
            <a:r>
              <a:rPr lang="en-US" sz="1000" dirty="0" smtClean="0">
                <a:solidFill>
                  <a:schemeClr val="tx2"/>
                </a:solidFill>
              </a:rPr>
              <a:t> 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28" name="Freeform 491"/>
          <p:cNvSpPr>
            <a:spLocks/>
          </p:cNvSpPr>
          <p:nvPr/>
        </p:nvSpPr>
        <p:spPr bwMode="auto">
          <a:xfrm>
            <a:off x="433820" y="3552466"/>
            <a:ext cx="159656" cy="156998"/>
          </a:xfrm>
          <a:custGeom>
            <a:avLst/>
            <a:gdLst>
              <a:gd name="T0" fmla="*/ 30 w 60"/>
              <a:gd name="T1" fmla="*/ 0 h 59"/>
              <a:gd name="T2" fmla="*/ 38 w 60"/>
              <a:gd name="T3" fmla="*/ 23 h 59"/>
              <a:gd name="T4" fmla="*/ 60 w 60"/>
              <a:gd name="T5" fmla="*/ 23 h 59"/>
              <a:gd name="T6" fmla="*/ 42 w 60"/>
              <a:gd name="T7" fmla="*/ 36 h 59"/>
              <a:gd name="T8" fmla="*/ 48 w 60"/>
              <a:gd name="T9" fmla="*/ 59 h 59"/>
              <a:gd name="T10" fmla="*/ 30 w 60"/>
              <a:gd name="T11" fmla="*/ 45 h 59"/>
              <a:gd name="T12" fmla="*/ 12 w 60"/>
              <a:gd name="T13" fmla="*/ 59 h 59"/>
              <a:gd name="T14" fmla="*/ 18 w 60"/>
              <a:gd name="T15" fmla="*/ 36 h 59"/>
              <a:gd name="T16" fmla="*/ 0 w 60"/>
              <a:gd name="T17" fmla="*/ 23 h 59"/>
              <a:gd name="T18" fmla="*/ 22 w 60"/>
              <a:gd name="T19" fmla="*/ 23 h 59"/>
              <a:gd name="T20" fmla="*/ 30 w 60"/>
              <a:gd name="T21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59">
                <a:moveTo>
                  <a:pt x="30" y="0"/>
                </a:moveTo>
                <a:lnTo>
                  <a:pt x="38" y="23"/>
                </a:lnTo>
                <a:lnTo>
                  <a:pt x="60" y="23"/>
                </a:lnTo>
                <a:lnTo>
                  <a:pt x="42" y="36"/>
                </a:lnTo>
                <a:lnTo>
                  <a:pt x="48" y="59"/>
                </a:lnTo>
                <a:lnTo>
                  <a:pt x="30" y="45"/>
                </a:lnTo>
                <a:lnTo>
                  <a:pt x="12" y="59"/>
                </a:lnTo>
                <a:lnTo>
                  <a:pt x="18" y="36"/>
                </a:lnTo>
                <a:lnTo>
                  <a:pt x="0" y="23"/>
                </a:lnTo>
                <a:lnTo>
                  <a:pt x="22" y="23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04048" y="987574"/>
            <a:ext cx="396044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5560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4</a:t>
            </a:fld>
            <a:endParaRPr lang="uk-UA"/>
          </a:p>
        </p:txBody>
      </p:sp>
      <p:sp>
        <p:nvSpPr>
          <p:cNvPr id="20" name="Title 34"/>
          <p:cNvSpPr>
            <a:spLocks noGrp="1"/>
          </p:cNvSpPr>
          <p:nvPr>
            <p:ph type="title"/>
          </p:nvPr>
        </p:nvSpPr>
        <p:spPr>
          <a:xfrm>
            <a:off x="457200" y="205979"/>
            <a:ext cx="5915000" cy="612887"/>
          </a:xfrm>
        </p:spPr>
        <p:txBody>
          <a:bodyPr>
            <a:normAutofit/>
          </a:bodyPr>
          <a:lstStyle/>
          <a:p>
            <a:r>
              <a:rPr lang="en-US" cap="all" dirty="0" smtClean="0">
                <a:latin typeface="+mn-lt"/>
                <a:cs typeface="+mn-cs"/>
              </a:rPr>
              <a:t>Angular 4 - DYNAMIC </a:t>
            </a:r>
            <a:r>
              <a:rPr lang="en-US" cap="all" dirty="0">
                <a:latin typeface="+mn-lt"/>
                <a:cs typeface="+mn-cs"/>
              </a:rPr>
              <a:t>COMPONENT </a:t>
            </a:r>
            <a:r>
              <a:rPr lang="en-US" cap="all" dirty="0" smtClean="0">
                <a:latin typeface="+mn-lt"/>
                <a:cs typeface="+mn-cs"/>
              </a:rPr>
              <a:t>LOADER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5353" y="1059582"/>
            <a:ext cx="3834599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/>
              <a:t>Usage</a:t>
            </a:r>
          </a:p>
          <a:p>
            <a:pPr>
              <a:spcBef>
                <a:spcPts val="600"/>
              </a:spcBef>
            </a:pPr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dirty="0"/>
              <a:t>Import </a:t>
            </a:r>
            <a:r>
              <a:rPr lang="en-US" sz="1000" dirty="0" smtClean="0"/>
              <a:t>’</a:t>
            </a:r>
            <a:r>
              <a:rPr lang="en-US" sz="1000" b="1" dirty="0" err="1" smtClean="0">
                <a:solidFill>
                  <a:schemeClr val="accent1"/>
                </a:solidFill>
              </a:rPr>
              <a:t>DynamicModule</a:t>
            </a:r>
            <a:r>
              <a:rPr lang="en-US" sz="1000" b="1" dirty="0" smtClean="0">
                <a:solidFill>
                  <a:schemeClr val="accent1"/>
                </a:solidFill>
              </a:rPr>
              <a:t>’</a:t>
            </a:r>
            <a:r>
              <a:rPr lang="en-US" sz="1000" dirty="0"/>
              <a:t> with dynamic components you want to insert later:</a:t>
            </a:r>
          </a:p>
          <a:p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9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26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28" name="Rectangle 27"/>
          <p:cNvSpPr/>
          <p:nvPr/>
        </p:nvSpPr>
        <p:spPr>
          <a:xfrm>
            <a:off x="297267" y="2232615"/>
            <a:ext cx="383459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/>
              <a:t>On </a:t>
            </a:r>
            <a:r>
              <a:rPr lang="en-US" sz="1000" b="1" dirty="0" err="1"/>
              <a:t>a</a:t>
            </a:r>
            <a:r>
              <a:rPr lang="en-US" sz="1000" b="1" dirty="0" err="1" smtClean="0"/>
              <a:t>pp.Module.ts</a:t>
            </a:r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305353" y="2526308"/>
            <a:ext cx="7632848" cy="133882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smtClean="0">
                <a:solidFill>
                  <a:srgbClr val="FF6600"/>
                </a:solidFill>
              </a:rPr>
              <a:t>import </a:t>
            </a:r>
            <a:r>
              <a:rPr lang="en-US" sz="900" dirty="0"/>
              <a:t>{MyDynamicComponent1} </a:t>
            </a:r>
            <a:r>
              <a:rPr lang="en-US" sz="900" dirty="0">
                <a:solidFill>
                  <a:srgbClr val="FF6600"/>
                </a:solidFill>
              </a:rPr>
              <a:t>from </a:t>
            </a:r>
            <a:r>
              <a:rPr lang="en-US" sz="900" b="1" dirty="0">
                <a:solidFill>
                  <a:srgbClr val="66FF00"/>
                </a:solidFill>
              </a:rPr>
              <a:t>'./my-dynamic-component1/my-dynamic-component1.component'</a:t>
            </a:r>
            <a:r>
              <a:rPr lang="en-US" sz="900" dirty="0"/>
              <a:t>;</a:t>
            </a:r>
            <a:br>
              <a:rPr lang="en-US" sz="900" dirty="0"/>
            </a:br>
            <a:r>
              <a:rPr lang="en-US" sz="900" dirty="0">
                <a:solidFill>
                  <a:srgbClr val="FF6600"/>
                </a:solidFill>
              </a:rPr>
              <a:t>import </a:t>
            </a:r>
            <a:r>
              <a:rPr lang="en-US" sz="900" dirty="0"/>
              <a:t>{MyDynamicComponent2} </a:t>
            </a:r>
            <a:r>
              <a:rPr lang="en-US" sz="900" dirty="0">
                <a:solidFill>
                  <a:srgbClr val="FF6600"/>
                </a:solidFill>
              </a:rPr>
              <a:t>from </a:t>
            </a:r>
            <a:r>
              <a:rPr lang="en-US" sz="900" b="1" dirty="0">
                <a:solidFill>
                  <a:srgbClr val="66FF00"/>
                </a:solidFill>
              </a:rPr>
              <a:t>'./my-dynamic-component2/my-dynamic-component2.component'</a:t>
            </a:r>
            <a:r>
              <a:rPr lang="en-US" sz="900" dirty="0"/>
              <a:t>;</a:t>
            </a:r>
            <a:br>
              <a:rPr lang="en-US" sz="900" dirty="0"/>
            </a:br>
            <a:r>
              <a:rPr lang="en-US" sz="900" dirty="0">
                <a:solidFill>
                  <a:srgbClr val="FF6600"/>
                </a:solidFill>
              </a:rPr>
              <a:t>import </a:t>
            </a:r>
            <a:r>
              <a:rPr lang="en-US" sz="900" dirty="0"/>
              <a:t>{</a:t>
            </a:r>
            <a:r>
              <a:rPr lang="en-US" sz="900" dirty="0" err="1"/>
              <a:t>DynamicModule</a:t>
            </a:r>
            <a:r>
              <a:rPr lang="en-US" sz="900" dirty="0"/>
              <a:t>} </a:t>
            </a:r>
            <a:r>
              <a:rPr lang="en-US" sz="900" dirty="0">
                <a:solidFill>
                  <a:srgbClr val="FF6600"/>
                </a:solidFill>
              </a:rPr>
              <a:t>from </a:t>
            </a:r>
            <a:r>
              <a:rPr lang="en-US" sz="900" b="1" dirty="0">
                <a:solidFill>
                  <a:srgbClr val="66FF00"/>
                </a:solidFill>
              </a:rPr>
              <a:t>'ng-dynamic-component'</a:t>
            </a:r>
            <a:r>
              <a:rPr lang="en-US" sz="900" dirty="0"/>
              <a:t>;</a:t>
            </a:r>
            <a:br>
              <a:rPr lang="en-US" sz="900" dirty="0"/>
            </a:br>
            <a:r>
              <a:rPr lang="en-US" sz="900" dirty="0"/>
              <a:t/>
            </a:r>
            <a:br>
              <a:rPr lang="en-US" sz="900" dirty="0"/>
            </a:br>
            <a:r>
              <a:rPr lang="en-US" sz="900" dirty="0"/>
              <a:t>@</a:t>
            </a:r>
            <a:r>
              <a:rPr lang="en-US" sz="900" dirty="0" err="1"/>
              <a:t>NgModule</a:t>
            </a:r>
            <a:r>
              <a:rPr lang="en-US" sz="900" dirty="0"/>
              <a:t>({</a:t>
            </a:r>
            <a:br>
              <a:rPr lang="en-US" sz="900" dirty="0"/>
            </a:br>
            <a:r>
              <a:rPr lang="en-US" sz="900" b="1" dirty="0" smtClean="0">
                <a:solidFill>
                  <a:srgbClr val="FDA5FF"/>
                </a:solidFill>
              </a:rPr>
              <a:t>imports</a:t>
            </a:r>
            <a:r>
              <a:rPr lang="en-US" sz="900" dirty="0">
                <a:solidFill>
                  <a:srgbClr val="FF6600"/>
                </a:solidFill>
              </a:rPr>
              <a:t>: </a:t>
            </a:r>
            <a:r>
              <a:rPr lang="en-US" sz="900" dirty="0"/>
              <a:t>[</a:t>
            </a:r>
            <a:br>
              <a:rPr lang="en-US" sz="900" dirty="0"/>
            </a:br>
            <a:r>
              <a:rPr lang="en-US" sz="900" dirty="0" err="1" smtClean="0"/>
              <a:t>DynamicModule.</a:t>
            </a:r>
            <a:r>
              <a:rPr lang="en-US" sz="9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withComponents</a:t>
            </a:r>
            <a:r>
              <a:rPr lang="en-US" sz="900" dirty="0"/>
              <a:t>([MyDynamicComponent1, MyDynamicComponent2])</a:t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dirty="0" smtClean="0"/>
              <a:t>]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altLang="he-IL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})</a:t>
            </a:r>
            <a:endParaRPr kumimoji="0" lang="he-IL" altLang="he-IL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09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5</a:t>
            </a:fld>
            <a:endParaRPr lang="uk-UA"/>
          </a:p>
        </p:txBody>
      </p:sp>
      <p:sp>
        <p:nvSpPr>
          <p:cNvPr id="20" name="Title 34"/>
          <p:cNvSpPr>
            <a:spLocks noGrp="1"/>
          </p:cNvSpPr>
          <p:nvPr>
            <p:ph type="title"/>
          </p:nvPr>
        </p:nvSpPr>
        <p:spPr>
          <a:xfrm>
            <a:off x="457200" y="205979"/>
            <a:ext cx="5915000" cy="612887"/>
          </a:xfrm>
        </p:spPr>
        <p:txBody>
          <a:bodyPr>
            <a:normAutofit/>
          </a:bodyPr>
          <a:lstStyle/>
          <a:p>
            <a:r>
              <a:rPr lang="en-US" cap="all" dirty="0" smtClean="0">
                <a:latin typeface="+mn-lt"/>
                <a:cs typeface="+mn-cs"/>
              </a:rPr>
              <a:t>Angular 4 - DYNAMIC </a:t>
            </a:r>
            <a:r>
              <a:rPr lang="en-US" cap="all" dirty="0">
                <a:latin typeface="+mn-lt"/>
                <a:cs typeface="+mn-cs"/>
              </a:rPr>
              <a:t>COMPONENT </a:t>
            </a:r>
            <a:r>
              <a:rPr lang="en-US" cap="all" dirty="0" smtClean="0">
                <a:latin typeface="+mn-lt"/>
                <a:cs typeface="+mn-cs"/>
              </a:rPr>
              <a:t>LOADER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5353" y="1059582"/>
            <a:ext cx="3834599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/>
              <a:t>First Way to use (Simple)</a:t>
            </a:r>
          </a:p>
          <a:p>
            <a:pPr>
              <a:spcBef>
                <a:spcPts val="600"/>
              </a:spcBef>
            </a:pPr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dirty="0"/>
              <a:t>Then in your component's template include </a:t>
            </a:r>
            <a:r>
              <a:rPr lang="en-US" sz="1000" dirty="0">
                <a:solidFill>
                  <a:schemeClr val="accent1"/>
                </a:solidFill>
              </a:rPr>
              <a:t>&lt;</a:t>
            </a:r>
            <a:r>
              <a:rPr lang="en-US" sz="1000" dirty="0" err="1">
                <a:solidFill>
                  <a:schemeClr val="accent1"/>
                </a:solidFill>
              </a:rPr>
              <a:t>ndc</a:t>
            </a:r>
            <a:r>
              <a:rPr lang="en-US" sz="1000" dirty="0">
                <a:solidFill>
                  <a:schemeClr val="accent1"/>
                </a:solidFill>
              </a:rPr>
              <a:t>-dynamic&gt; </a:t>
            </a:r>
            <a:r>
              <a:rPr lang="en-US" sz="1000" dirty="0"/>
              <a:t>where you want to render component and bind from your component class type of component to render:</a:t>
            </a:r>
            <a:endParaRPr lang="en-US" sz="1000" b="1" dirty="0">
              <a:solidFill>
                <a:schemeClr val="tx2"/>
              </a:solidFill>
            </a:endParaRPr>
          </a:p>
        </p:txBody>
      </p:sp>
      <p:sp>
        <p:nvSpPr>
          <p:cNvPr id="19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26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2067694"/>
            <a:ext cx="7488832" cy="2631490"/>
          </a:xfrm>
          <a:prstGeom prst="rect">
            <a:avLst/>
          </a:prstGeom>
          <a:solidFill>
            <a:srgbClr val="000000"/>
          </a:solidFill>
        </p:spPr>
        <p:txBody>
          <a:bodyPr wrap="square" rtlCol="1">
            <a:spAutoFit/>
          </a:bodyPr>
          <a:lstStyle/>
          <a:p>
            <a:r>
              <a:rPr lang="en-US" sz="1100" dirty="0">
                <a:solidFill>
                  <a:srgbClr val="FF6600"/>
                </a:solidFill>
              </a:rPr>
              <a:t>import </a:t>
            </a:r>
            <a:r>
              <a:rPr lang="en-US" sz="1100" dirty="0"/>
              <a:t>{Component} </a:t>
            </a:r>
            <a:r>
              <a:rPr lang="en-US" sz="1100" dirty="0">
                <a:solidFill>
                  <a:srgbClr val="FF6600"/>
                </a:solidFill>
              </a:rPr>
              <a:t>from </a:t>
            </a:r>
            <a:r>
              <a:rPr lang="en-US" sz="1100" b="1" dirty="0">
                <a:solidFill>
                  <a:srgbClr val="66FF00"/>
                </a:solidFill>
              </a:rPr>
              <a:t>'@angular/core'</a:t>
            </a:r>
            <a:r>
              <a:rPr lang="en-US" sz="1100" dirty="0"/>
              <a:t>;</a:t>
            </a:r>
            <a:br>
              <a:rPr lang="en-US" sz="1100" dirty="0"/>
            </a:br>
            <a:r>
              <a:rPr lang="en-US" sz="1100" dirty="0">
                <a:solidFill>
                  <a:srgbClr val="FF6600"/>
                </a:solidFill>
              </a:rPr>
              <a:t>import </a:t>
            </a:r>
            <a:r>
              <a:rPr lang="en-US" sz="1100" dirty="0"/>
              <a:t>{MyDynamicComponent1} </a:t>
            </a:r>
            <a:r>
              <a:rPr lang="en-US" sz="1100" dirty="0">
                <a:solidFill>
                  <a:srgbClr val="FF6600"/>
                </a:solidFill>
              </a:rPr>
              <a:t>from </a:t>
            </a:r>
            <a:r>
              <a:rPr lang="en-US" sz="1100" b="1" dirty="0">
                <a:solidFill>
                  <a:srgbClr val="66FF00"/>
                </a:solidFill>
              </a:rPr>
              <a:t>'./my-dynamic-component1/my-dynamic-component1.component'</a:t>
            </a:r>
            <a:r>
              <a:rPr lang="en-US" sz="1100" dirty="0"/>
              <a:t>;</a:t>
            </a:r>
            <a:br>
              <a:rPr lang="en-US" sz="1100" dirty="0"/>
            </a:br>
            <a:r>
              <a:rPr lang="en-US" sz="1100" dirty="0">
                <a:solidFill>
                  <a:srgbClr val="FF6600"/>
                </a:solidFill>
              </a:rPr>
              <a:t>import </a:t>
            </a:r>
            <a:r>
              <a:rPr lang="en-US" sz="1100" dirty="0"/>
              <a:t>{MyDynamicComponent2} </a:t>
            </a:r>
            <a:r>
              <a:rPr lang="en-US" sz="1100" dirty="0">
                <a:solidFill>
                  <a:srgbClr val="FF6600"/>
                </a:solidFill>
              </a:rPr>
              <a:t>from </a:t>
            </a:r>
            <a:r>
              <a:rPr lang="en-US" sz="1100" b="1" dirty="0">
                <a:solidFill>
                  <a:srgbClr val="66FF00"/>
                </a:solidFill>
              </a:rPr>
              <a:t>'./my-dynamic-component2/my-dynamic-component2.component'</a:t>
            </a:r>
            <a:r>
              <a:rPr lang="en-US" sz="1100" dirty="0"/>
              <a:t>;</a:t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@Component({</a:t>
            </a:r>
            <a:br>
              <a:rPr lang="en-US" sz="1100" dirty="0"/>
            </a:br>
            <a:r>
              <a:rPr lang="en-US" sz="1100" dirty="0"/>
              <a:t>  </a:t>
            </a:r>
            <a:r>
              <a:rPr lang="en-US" sz="1100" b="1" dirty="0">
                <a:solidFill>
                  <a:srgbClr val="FDA5FF"/>
                </a:solidFill>
              </a:rPr>
              <a:t>selector</a:t>
            </a:r>
            <a:r>
              <a:rPr lang="en-US" sz="1100" dirty="0">
                <a:solidFill>
                  <a:srgbClr val="FF6600"/>
                </a:solidFill>
              </a:rPr>
              <a:t>: </a:t>
            </a:r>
            <a:r>
              <a:rPr lang="en-US" sz="1100" b="1" dirty="0" smtClean="0">
                <a:solidFill>
                  <a:srgbClr val="66FF00"/>
                </a:solidFill>
              </a:rPr>
              <a:t>‘my-component'</a:t>
            </a:r>
            <a:r>
              <a:rPr lang="en-US" sz="1100" dirty="0" smtClean="0"/>
              <a:t>,</a:t>
            </a: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  </a:t>
            </a:r>
            <a:r>
              <a:rPr lang="en-US" sz="1100" b="1" dirty="0">
                <a:solidFill>
                  <a:srgbClr val="FDA5FF"/>
                </a:solidFill>
              </a:rPr>
              <a:t>template</a:t>
            </a:r>
            <a:r>
              <a:rPr lang="en-US" sz="1100" dirty="0">
                <a:solidFill>
                  <a:srgbClr val="FF6600"/>
                </a:solidFill>
              </a:rPr>
              <a:t>: </a:t>
            </a:r>
            <a:r>
              <a:rPr lang="en-US" sz="1100" b="1" dirty="0">
                <a:solidFill>
                  <a:srgbClr val="66FF00"/>
                </a:solidFill>
              </a:rPr>
              <a:t>`</a:t>
            </a:r>
            <a:br>
              <a:rPr lang="en-US" sz="1100" b="1" dirty="0">
                <a:solidFill>
                  <a:srgbClr val="66FF00"/>
                </a:solidFill>
              </a:rPr>
            </a:br>
            <a:r>
              <a:rPr lang="en-US" sz="1100" b="1" dirty="0">
                <a:solidFill>
                  <a:srgbClr val="66FF00"/>
                </a:solidFill>
              </a:rPr>
              <a:t>    &lt;</a:t>
            </a:r>
            <a:r>
              <a:rPr lang="en-US" sz="1100" b="1" dirty="0" err="1">
                <a:solidFill>
                  <a:srgbClr val="66FF00"/>
                </a:solidFill>
              </a:rPr>
              <a:t>ndc</a:t>
            </a:r>
            <a:r>
              <a:rPr lang="en-US" sz="1100" b="1" dirty="0">
                <a:solidFill>
                  <a:srgbClr val="66FF00"/>
                </a:solidFill>
              </a:rPr>
              <a:t>-dynamic [</a:t>
            </a:r>
            <a:r>
              <a:rPr lang="en-US" sz="1100" b="1" dirty="0" err="1">
                <a:solidFill>
                  <a:srgbClr val="66FF00"/>
                </a:solidFill>
              </a:rPr>
              <a:t>ndcDynamicComponent</a:t>
            </a:r>
            <a:r>
              <a:rPr lang="en-US" sz="1100" b="1" dirty="0">
                <a:solidFill>
                  <a:srgbClr val="66FF00"/>
                </a:solidFill>
              </a:rPr>
              <a:t>]="component"&gt;&lt;/</a:t>
            </a:r>
            <a:r>
              <a:rPr lang="en-US" sz="1100" b="1" dirty="0" err="1">
                <a:solidFill>
                  <a:srgbClr val="66FF00"/>
                </a:solidFill>
              </a:rPr>
              <a:t>ndc</a:t>
            </a:r>
            <a:r>
              <a:rPr lang="en-US" sz="1100" b="1" dirty="0">
                <a:solidFill>
                  <a:srgbClr val="66FF00"/>
                </a:solidFill>
              </a:rPr>
              <a:t>-dynamic&gt;`</a:t>
            </a:r>
            <a:br>
              <a:rPr lang="en-US" sz="1100" b="1" dirty="0">
                <a:solidFill>
                  <a:srgbClr val="66FF00"/>
                </a:solidFill>
              </a:rPr>
            </a:br>
            <a:r>
              <a:rPr lang="en-US" sz="1100" dirty="0"/>
              <a:t>})</a:t>
            </a:r>
            <a:br>
              <a:rPr lang="en-US" sz="1100" dirty="0"/>
            </a:br>
            <a:r>
              <a:rPr lang="en-US" sz="1100" dirty="0">
                <a:solidFill>
                  <a:srgbClr val="FF6600"/>
                </a:solidFill>
              </a:rPr>
              <a:t>export class </a:t>
            </a:r>
            <a:r>
              <a:rPr lang="en-US" sz="1100" dirty="0" err="1"/>
              <a:t>AppComponent</a:t>
            </a:r>
            <a:r>
              <a:rPr lang="en-US" sz="1100" dirty="0"/>
              <a:t> {</a:t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  </a:t>
            </a:r>
            <a:r>
              <a:rPr lang="en-US" sz="1100" b="1" dirty="0">
                <a:solidFill>
                  <a:srgbClr val="FDA5FF"/>
                </a:solidFill>
              </a:rPr>
              <a:t>component </a:t>
            </a:r>
            <a:r>
              <a:rPr lang="en-US" sz="1100" dirty="0">
                <a:solidFill>
                  <a:srgbClr val="FF6600"/>
                </a:solidFill>
              </a:rPr>
              <a:t>= </a:t>
            </a:r>
            <a:r>
              <a:rPr lang="en-US" sz="1100" b="1" i="1" dirty="0" err="1">
                <a:solidFill>
                  <a:srgbClr val="FDA5FF"/>
                </a:solidFill>
              </a:rPr>
              <a:t>Math</a:t>
            </a:r>
            <a:r>
              <a:rPr lang="en-US" sz="1100" dirty="0" err="1"/>
              <a:t>.</a:t>
            </a:r>
            <a:r>
              <a:rPr lang="en-US" sz="1100" dirty="0" err="1">
                <a:solidFill>
                  <a:srgbClr val="979748"/>
                </a:solidFill>
              </a:rPr>
              <a:t>random</a:t>
            </a:r>
            <a:r>
              <a:rPr lang="en-US" sz="1100" dirty="0"/>
              <a:t>() </a:t>
            </a:r>
            <a:r>
              <a:rPr lang="en-US" sz="1100" dirty="0">
                <a:solidFill>
                  <a:srgbClr val="FF6600"/>
                </a:solidFill>
              </a:rPr>
              <a:t>&gt; </a:t>
            </a:r>
            <a:r>
              <a:rPr lang="en-US" sz="1100" dirty="0">
                <a:solidFill>
                  <a:srgbClr val="339999"/>
                </a:solidFill>
              </a:rPr>
              <a:t>0.5 </a:t>
            </a:r>
            <a:r>
              <a:rPr lang="en-US" sz="1100" dirty="0">
                <a:solidFill>
                  <a:srgbClr val="FF6600"/>
                </a:solidFill>
              </a:rPr>
              <a:t>? </a:t>
            </a:r>
            <a:r>
              <a:rPr lang="en-US" sz="1100" dirty="0"/>
              <a:t>MyDynamicComponent1 </a:t>
            </a:r>
            <a:r>
              <a:rPr lang="en-US" sz="1100" dirty="0">
                <a:solidFill>
                  <a:srgbClr val="FF6600"/>
                </a:solidFill>
              </a:rPr>
              <a:t>: </a:t>
            </a:r>
            <a:r>
              <a:rPr lang="en-US" sz="1100" dirty="0"/>
              <a:t>MyDynamicComponent2;</a:t>
            </a:r>
            <a:br>
              <a:rPr lang="en-US" sz="1100" dirty="0"/>
            </a:br>
            <a:r>
              <a:rPr lang="en-US" sz="1100" dirty="0"/>
              <a:t/>
            </a:r>
            <a:br>
              <a:rPr lang="en-US" sz="1100" dirty="0"/>
            </a:br>
            <a:r>
              <a:rPr lang="en-US" sz="1100" dirty="0"/>
              <a:t>}</a:t>
            </a:r>
            <a:br>
              <a:rPr lang="en-US" sz="1100" dirty="0"/>
            </a:br>
            <a:endParaRPr lang="he-IL" sz="1100" dirty="0"/>
          </a:p>
        </p:txBody>
      </p:sp>
    </p:spTree>
    <p:extLst>
      <p:ext uri="{BB962C8B-B14F-4D97-AF65-F5344CB8AC3E}">
        <p14:creationId xmlns:p14="http://schemas.microsoft.com/office/powerpoint/2010/main" val="357583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6</a:t>
            </a:fld>
            <a:endParaRPr lang="uk-UA"/>
          </a:p>
        </p:txBody>
      </p:sp>
      <p:sp>
        <p:nvSpPr>
          <p:cNvPr id="20" name="Title 34"/>
          <p:cNvSpPr>
            <a:spLocks noGrp="1"/>
          </p:cNvSpPr>
          <p:nvPr>
            <p:ph type="title"/>
          </p:nvPr>
        </p:nvSpPr>
        <p:spPr>
          <a:xfrm>
            <a:off x="457200" y="205979"/>
            <a:ext cx="5915000" cy="612887"/>
          </a:xfrm>
        </p:spPr>
        <p:txBody>
          <a:bodyPr>
            <a:normAutofit/>
          </a:bodyPr>
          <a:lstStyle/>
          <a:p>
            <a:r>
              <a:rPr lang="en-US" cap="all" dirty="0" smtClean="0">
                <a:latin typeface="+mn-lt"/>
                <a:cs typeface="+mn-cs"/>
              </a:rPr>
              <a:t>Angular 4 - DYNAMIC </a:t>
            </a:r>
            <a:r>
              <a:rPr lang="en-US" cap="all" dirty="0">
                <a:latin typeface="+mn-lt"/>
                <a:cs typeface="+mn-cs"/>
              </a:rPr>
              <a:t>COMPONENT </a:t>
            </a:r>
            <a:r>
              <a:rPr lang="en-US" cap="all" dirty="0" smtClean="0">
                <a:latin typeface="+mn-lt"/>
                <a:cs typeface="+mn-cs"/>
              </a:rPr>
              <a:t>LOADER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5353" y="1059582"/>
            <a:ext cx="7939055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/>
              <a:t>Second Way to use (With input and Output)</a:t>
            </a:r>
          </a:p>
          <a:p>
            <a:pPr>
              <a:spcBef>
                <a:spcPts val="600"/>
              </a:spcBef>
            </a:pPr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dirty="0" smtClean="0"/>
              <a:t>Now </a:t>
            </a:r>
            <a:r>
              <a:rPr lang="en-US" sz="1000" dirty="0"/>
              <a:t>You can also pass inputs and outputs to your dynamic components</a:t>
            </a:r>
            <a:r>
              <a:rPr lang="en-US" sz="1000" dirty="0" smtClean="0"/>
              <a:t>:</a:t>
            </a:r>
          </a:p>
          <a:p>
            <a:endParaRPr lang="en-US" sz="1000" dirty="0"/>
          </a:p>
          <a:p>
            <a:r>
              <a:rPr lang="en-US" sz="1000" dirty="0"/>
              <a:t>Here you can update your inputs (ex</a:t>
            </a:r>
            <a:r>
              <a:rPr lang="en-US" sz="1000" dirty="0" smtClean="0"/>
              <a:t>.</a:t>
            </a:r>
            <a:r>
              <a:rPr lang="en-US" sz="1000" b="1" dirty="0" smtClean="0">
                <a:solidFill>
                  <a:srgbClr val="66FF00"/>
                </a:solidFill>
              </a:rPr>
              <a:t> </a:t>
            </a:r>
            <a:r>
              <a:rPr lang="en-US" sz="1000" b="1" dirty="0">
                <a:solidFill>
                  <a:srgbClr val="FDA5FF"/>
                </a:solidFill>
              </a:rPr>
              <a:t>inputs </a:t>
            </a:r>
            <a:r>
              <a:rPr lang="en-US" sz="1000" dirty="0">
                <a:solidFill>
                  <a:srgbClr val="FF6600"/>
                </a:solidFill>
              </a:rPr>
              <a:t>.</a:t>
            </a:r>
            <a:r>
              <a:rPr lang="en-US" sz="1000" b="1" dirty="0" err="1" smtClean="0">
                <a:solidFill>
                  <a:srgbClr val="FDA5FF"/>
                </a:solidFill>
              </a:rPr>
              <a:t>var</a:t>
            </a:r>
            <a:r>
              <a:rPr lang="en-US" sz="1000" dirty="0">
                <a:solidFill>
                  <a:srgbClr val="FF6600"/>
                </a:solidFill>
              </a:rPr>
              <a:t> </a:t>
            </a:r>
            <a:r>
              <a:rPr lang="en-US" sz="1000" dirty="0" smtClean="0">
                <a:solidFill>
                  <a:srgbClr val="FF6600"/>
                </a:solidFill>
              </a:rPr>
              <a:t>= </a:t>
            </a:r>
            <a:r>
              <a:rPr lang="en-US" sz="1000" b="1" dirty="0" smtClean="0">
                <a:solidFill>
                  <a:srgbClr val="66FF00"/>
                </a:solidFill>
              </a:rPr>
              <a:t>‘</a:t>
            </a:r>
            <a:r>
              <a:rPr lang="en-US" sz="1000" b="1" dirty="0">
                <a:solidFill>
                  <a:srgbClr val="66FF00"/>
                </a:solidFill>
              </a:rPr>
              <a:t>My </a:t>
            </a:r>
            <a:r>
              <a:rPr lang="en-US" sz="1000" b="1" dirty="0" err="1">
                <a:solidFill>
                  <a:srgbClr val="66FF00"/>
                </a:solidFill>
              </a:rPr>
              <a:t>Var</a:t>
            </a:r>
            <a:r>
              <a:rPr lang="en-US" sz="1000" b="1" dirty="0" smtClean="0">
                <a:solidFill>
                  <a:srgbClr val="66FF00"/>
                </a:solidFill>
              </a:rPr>
              <a:t>'</a:t>
            </a:r>
            <a:r>
              <a:rPr lang="en-US" sz="1000" dirty="0" smtClean="0"/>
              <a:t>) </a:t>
            </a:r>
            <a:r>
              <a:rPr lang="en-US" sz="1000" dirty="0"/>
              <a:t>and they will trigger standard </a:t>
            </a:r>
            <a:r>
              <a:rPr lang="en-US" sz="1000" dirty="0" err="1"/>
              <a:t>Angular's</a:t>
            </a:r>
            <a:r>
              <a:rPr lang="en-US" sz="1000" dirty="0"/>
              <a:t> life-cycle hooks (of course you should consider which change detection strategy you are using).</a:t>
            </a:r>
          </a:p>
          <a:p>
            <a:r>
              <a:rPr lang="en-US" sz="1000" dirty="0"/>
              <a:t/>
            </a:r>
            <a:br>
              <a:rPr lang="en-US" sz="1000" dirty="0"/>
            </a:br>
            <a:endParaRPr lang="en-US" sz="1000" dirty="0"/>
          </a:p>
        </p:txBody>
      </p:sp>
      <p:sp>
        <p:nvSpPr>
          <p:cNvPr id="19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26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355955" y="2139702"/>
            <a:ext cx="3528392" cy="2585323"/>
          </a:xfrm>
          <a:prstGeom prst="rect">
            <a:avLst/>
          </a:prstGeom>
          <a:solidFill>
            <a:srgbClr val="000000"/>
          </a:solidFill>
        </p:spPr>
        <p:txBody>
          <a:bodyPr wrap="square" rtlCol="1">
            <a:spAutoFit/>
          </a:bodyPr>
          <a:lstStyle/>
          <a:p>
            <a:r>
              <a:rPr lang="en-US" sz="900" dirty="0"/>
              <a:t>@Component({</a:t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b="1" dirty="0">
                <a:solidFill>
                  <a:srgbClr val="FDA5FF"/>
                </a:solidFill>
              </a:rPr>
              <a:t>selector</a:t>
            </a:r>
            <a:r>
              <a:rPr lang="en-US" sz="900" dirty="0">
                <a:solidFill>
                  <a:srgbClr val="FF6600"/>
                </a:solidFill>
              </a:rPr>
              <a:t>: </a:t>
            </a:r>
            <a:r>
              <a:rPr lang="en-US" sz="900" b="1" dirty="0" smtClean="0">
                <a:solidFill>
                  <a:srgbClr val="66FF00"/>
                </a:solidFill>
              </a:rPr>
              <a:t>‘my-component'</a:t>
            </a:r>
            <a:r>
              <a:rPr lang="en-US" sz="900" dirty="0" smtClean="0"/>
              <a:t>,</a:t>
            </a:r>
            <a:r>
              <a:rPr lang="en-US" sz="900" dirty="0"/>
              <a:t/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b="1" dirty="0">
                <a:solidFill>
                  <a:srgbClr val="FDA5FF"/>
                </a:solidFill>
              </a:rPr>
              <a:t>template</a:t>
            </a:r>
            <a:r>
              <a:rPr lang="en-US" sz="900" dirty="0">
                <a:solidFill>
                  <a:srgbClr val="FF6600"/>
                </a:solidFill>
              </a:rPr>
              <a:t>: </a:t>
            </a:r>
            <a:r>
              <a:rPr lang="en-US" sz="900" b="1" dirty="0">
                <a:solidFill>
                  <a:srgbClr val="66FF00"/>
                </a:solidFill>
              </a:rPr>
              <a:t>`</a:t>
            </a:r>
            <a:br>
              <a:rPr lang="en-US" sz="900" b="1" dirty="0">
                <a:solidFill>
                  <a:srgbClr val="66FF00"/>
                </a:solidFill>
              </a:rPr>
            </a:br>
            <a:r>
              <a:rPr lang="en-US" sz="900" b="1" dirty="0">
                <a:solidFill>
                  <a:srgbClr val="66FF00"/>
                </a:solidFill>
              </a:rPr>
              <a:t>    &lt;</a:t>
            </a:r>
            <a:r>
              <a:rPr lang="en-US" sz="900" b="1" dirty="0" err="1">
                <a:solidFill>
                  <a:srgbClr val="66FF00"/>
                </a:solidFill>
              </a:rPr>
              <a:t>ndc</a:t>
            </a:r>
            <a:r>
              <a:rPr lang="en-US" sz="900" b="1" dirty="0">
                <a:solidFill>
                  <a:srgbClr val="66FF00"/>
                </a:solidFill>
              </a:rPr>
              <a:t>-dynamic [</a:t>
            </a:r>
            <a:r>
              <a:rPr lang="en-US" sz="900" b="1" dirty="0" err="1">
                <a:solidFill>
                  <a:srgbClr val="66FF00"/>
                </a:solidFill>
              </a:rPr>
              <a:t>ndcDynamicComponent</a:t>
            </a:r>
            <a:r>
              <a:rPr lang="en-US" sz="900" b="1" dirty="0">
                <a:solidFill>
                  <a:srgbClr val="66FF00"/>
                </a:solidFill>
              </a:rPr>
              <a:t>]="</a:t>
            </a:r>
            <a:r>
              <a:rPr lang="en-US" sz="900" b="1" dirty="0">
                <a:solidFill>
                  <a:srgbClr val="FDA5FF"/>
                </a:solidFill>
              </a:rPr>
              <a:t>component</a:t>
            </a:r>
            <a:r>
              <a:rPr lang="en-US" sz="900" b="1" dirty="0">
                <a:solidFill>
                  <a:srgbClr val="66FF00"/>
                </a:solidFill>
              </a:rPr>
              <a:t>"</a:t>
            </a:r>
            <a:br>
              <a:rPr lang="en-US" sz="900" b="1" dirty="0">
                <a:solidFill>
                  <a:srgbClr val="66FF00"/>
                </a:solidFill>
              </a:rPr>
            </a:br>
            <a:r>
              <a:rPr lang="en-US" sz="900" b="1" dirty="0">
                <a:solidFill>
                  <a:srgbClr val="66FF00"/>
                </a:solidFill>
              </a:rPr>
              <a:t>                 [</a:t>
            </a:r>
            <a:r>
              <a:rPr lang="en-US" sz="900" b="1" dirty="0" err="1">
                <a:solidFill>
                  <a:srgbClr val="66FF00"/>
                </a:solidFill>
              </a:rPr>
              <a:t>ndcDynamicInputs</a:t>
            </a:r>
            <a:r>
              <a:rPr lang="en-US" sz="900" b="1" dirty="0">
                <a:solidFill>
                  <a:srgbClr val="66FF00"/>
                </a:solidFill>
              </a:rPr>
              <a:t>]="</a:t>
            </a:r>
            <a:r>
              <a:rPr lang="en-US" sz="900" b="1" dirty="0">
                <a:solidFill>
                  <a:srgbClr val="FDA5FF"/>
                </a:solidFill>
              </a:rPr>
              <a:t>inputs</a:t>
            </a:r>
            <a:r>
              <a:rPr lang="en-US" sz="900" b="1" dirty="0">
                <a:solidFill>
                  <a:srgbClr val="66FF00"/>
                </a:solidFill>
              </a:rPr>
              <a:t>"</a:t>
            </a:r>
            <a:br>
              <a:rPr lang="en-US" sz="900" b="1" dirty="0">
                <a:solidFill>
                  <a:srgbClr val="66FF00"/>
                </a:solidFill>
              </a:rPr>
            </a:br>
            <a:r>
              <a:rPr lang="en-US" sz="900" b="1" dirty="0">
                <a:solidFill>
                  <a:srgbClr val="66FF00"/>
                </a:solidFill>
              </a:rPr>
              <a:t>                 [</a:t>
            </a:r>
            <a:r>
              <a:rPr lang="en-US" sz="900" b="1" dirty="0" err="1">
                <a:solidFill>
                  <a:srgbClr val="66FF00"/>
                </a:solidFill>
              </a:rPr>
              <a:t>ndcDynamicOutputs</a:t>
            </a:r>
            <a:r>
              <a:rPr lang="en-US" sz="900" b="1" dirty="0">
                <a:solidFill>
                  <a:srgbClr val="66FF00"/>
                </a:solidFill>
              </a:rPr>
              <a:t>]="</a:t>
            </a:r>
            <a:r>
              <a:rPr lang="en-US" sz="900" b="1" dirty="0">
                <a:solidFill>
                  <a:srgbClr val="FDA5FF"/>
                </a:solidFill>
              </a:rPr>
              <a:t>outputs</a:t>
            </a:r>
            <a:r>
              <a:rPr lang="en-US" sz="900" b="1" dirty="0">
                <a:solidFill>
                  <a:srgbClr val="66FF00"/>
                </a:solidFill>
              </a:rPr>
              <a:t>"</a:t>
            </a:r>
            <a:br>
              <a:rPr lang="en-US" sz="900" b="1" dirty="0">
                <a:solidFill>
                  <a:srgbClr val="66FF00"/>
                </a:solidFill>
              </a:rPr>
            </a:br>
            <a:r>
              <a:rPr lang="en-US" sz="900" b="1" dirty="0">
                <a:solidFill>
                  <a:srgbClr val="66FF00"/>
                </a:solidFill>
              </a:rPr>
              <a:t>    &gt;&lt;/</a:t>
            </a:r>
            <a:r>
              <a:rPr lang="en-US" sz="900" b="1" dirty="0" err="1">
                <a:solidFill>
                  <a:srgbClr val="66FF00"/>
                </a:solidFill>
              </a:rPr>
              <a:t>ndc</a:t>
            </a:r>
            <a:r>
              <a:rPr lang="en-US" sz="900" b="1" dirty="0">
                <a:solidFill>
                  <a:srgbClr val="66FF00"/>
                </a:solidFill>
              </a:rPr>
              <a:t>-dynamic&gt;`</a:t>
            </a:r>
            <a:br>
              <a:rPr lang="en-US" sz="900" b="1" dirty="0">
                <a:solidFill>
                  <a:srgbClr val="66FF00"/>
                </a:solidFill>
              </a:rPr>
            </a:br>
            <a:r>
              <a:rPr lang="en-US" sz="900" dirty="0"/>
              <a:t>})</a:t>
            </a:r>
            <a:br>
              <a:rPr lang="en-US" sz="900" dirty="0"/>
            </a:br>
            <a:r>
              <a:rPr lang="en-US" sz="900" dirty="0">
                <a:solidFill>
                  <a:srgbClr val="FF6600"/>
                </a:solidFill>
              </a:rPr>
              <a:t>export class </a:t>
            </a:r>
            <a:r>
              <a:rPr lang="en-US" sz="900" dirty="0" err="1" smtClean="0"/>
              <a:t>MyComponent</a:t>
            </a:r>
            <a:r>
              <a:rPr lang="en-US" sz="900" dirty="0" smtClean="0"/>
              <a:t> </a:t>
            </a:r>
            <a:r>
              <a:rPr lang="en-US" sz="900" dirty="0"/>
              <a:t>{</a:t>
            </a:r>
            <a:br>
              <a:rPr lang="en-US" sz="900" dirty="0"/>
            </a:br>
            <a:r>
              <a:rPr lang="en-US" sz="900" dirty="0"/>
              <a:t/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b="1" dirty="0">
                <a:solidFill>
                  <a:srgbClr val="FDA5FF"/>
                </a:solidFill>
              </a:rPr>
              <a:t>component </a:t>
            </a:r>
            <a:r>
              <a:rPr lang="en-US" sz="900" dirty="0">
                <a:solidFill>
                  <a:srgbClr val="FF6600"/>
                </a:solidFill>
              </a:rPr>
              <a:t>= </a:t>
            </a:r>
            <a:r>
              <a:rPr lang="en-US" sz="900" dirty="0"/>
              <a:t>MyDynamicComponent1;</a:t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b="1" dirty="0">
                <a:solidFill>
                  <a:srgbClr val="FDA5FF"/>
                </a:solidFill>
              </a:rPr>
              <a:t>inputs </a:t>
            </a:r>
            <a:r>
              <a:rPr lang="en-US" sz="900" dirty="0">
                <a:solidFill>
                  <a:srgbClr val="FF6600"/>
                </a:solidFill>
              </a:rPr>
              <a:t>= </a:t>
            </a:r>
            <a:r>
              <a:rPr lang="en-US" sz="900" dirty="0" smtClean="0"/>
              <a:t>{</a:t>
            </a:r>
          </a:p>
          <a:p>
            <a:r>
              <a:rPr lang="en-US" sz="900" b="1" dirty="0">
                <a:solidFill>
                  <a:srgbClr val="FDA5FF"/>
                </a:solidFill>
              </a:rPr>
              <a:t> </a:t>
            </a:r>
            <a:r>
              <a:rPr lang="en-US" sz="900" b="1" dirty="0" smtClean="0">
                <a:solidFill>
                  <a:srgbClr val="FDA5FF"/>
                </a:solidFill>
              </a:rPr>
              <a:t> </a:t>
            </a:r>
            <a:r>
              <a:rPr lang="en-US" sz="900" b="1" dirty="0" err="1" smtClean="0">
                <a:solidFill>
                  <a:srgbClr val="FDA5FF"/>
                </a:solidFill>
              </a:rPr>
              <a:t>var</a:t>
            </a:r>
            <a:r>
              <a:rPr lang="en-US" sz="900" dirty="0" smtClean="0">
                <a:solidFill>
                  <a:srgbClr val="FF6600"/>
                </a:solidFill>
              </a:rPr>
              <a:t>: </a:t>
            </a:r>
            <a:r>
              <a:rPr lang="en-US" sz="900" b="1" dirty="0" smtClean="0">
                <a:solidFill>
                  <a:srgbClr val="66FF00"/>
                </a:solidFill>
              </a:rPr>
              <a:t>‘My </a:t>
            </a:r>
            <a:r>
              <a:rPr lang="en-US" sz="900" b="1" dirty="0" err="1" smtClean="0">
                <a:solidFill>
                  <a:srgbClr val="66FF00"/>
                </a:solidFill>
              </a:rPr>
              <a:t>Var</a:t>
            </a:r>
            <a:r>
              <a:rPr lang="en-US" sz="900" b="1" dirty="0" smtClean="0">
                <a:solidFill>
                  <a:srgbClr val="66FF00"/>
                </a:solidFill>
              </a:rPr>
              <a:t>'</a:t>
            </a:r>
            <a:r>
              <a:rPr lang="en-US" sz="900" dirty="0" smtClean="0"/>
              <a:t>, </a:t>
            </a:r>
          </a:p>
          <a:p>
            <a:r>
              <a:rPr lang="en-US" sz="900" dirty="0">
                <a:solidFill>
                  <a:srgbClr val="979748"/>
                </a:solidFill>
              </a:rPr>
              <a:t> </a:t>
            </a:r>
            <a:r>
              <a:rPr lang="en-US" sz="900" dirty="0" smtClean="0">
                <a:solidFill>
                  <a:srgbClr val="979748"/>
                </a:solidFill>
              </a:rPr>
              <a:t> </a:t>
            </a:r>
            <a:r>
              <a:rPr lang="en-US" sz="900" dirty="0" err="1" smtClean="0">
                <a:solidFill>
                  <a:srgbClr val="979748"/>
                </a:solidFill>
              </a:rPr>
              <a:t>MyFunction</a:t>
            </a:r>
            <a:r>
              <a:rPr lang="en-US" sz="900" dirty="0" smtClean="0">
                <a:solidFill>
                  <a:srgbClr val="FF6600"/>
                </a:solidFill>
              </a:rPr>
              <a:t>: </a:t>
            </a:r>
            <a:r>
              <a:rPr lang="en-US" sz="900" dirty="0"/>
              <a:t>() </a:t>
            </a:r>
            <a:r>
              <a:rPr lang="en-US" sz="900" dirty="0">
                <a:solidFill>
                  <a:srgbClr val="FF6600"/>
                </a:solidFill>
              </a:rPr>
              <a:t>=&gt; </a:t>
            </a:r>
            <a:r>
              <a:rPr lang="en-US" sz="900" b="1" dirty="0">
                <a:solidFill>
                  <a:srgbClr val="66FF00"/>
                </a:solidFill>
              </a:rPr>
              <a:t>'can be really </a:t>
            </a:r>
            <a:r>
              <a:rPr lang="en-US" sz="900" b="1" dirty="0" smtClean="0">
                <a:solidFill>
                  <a:srgbClr val="66FF00"/>
                </a:solidFill>
              </a:rPr>
              <a:t>complex‘</a:t>
            </a:r>
          </a:p>
          <a:p>
            <a:r>
              <a:rPr lang="en-US" sz="900" dirty="0" smtClean="0"/>
              <a:t>};</a:t>
            </a:r>
            <a:r>
              <a:rPr lang="en-US" sz="900" dirty="0"/>
              <a:t/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b="1" dirty="0">
                <a:solidFill>
                  <a:srgbClr val="FDA5FF"/>
                </a:solidFill>
              </a:rPr>
              <a:t>outputs </a:t>
            </a:r>
            <a:r>
              <a:rPr lang="en-US" sz="900" dirty="0">
                <a:solidFill>
                  <a:srgbClr val="FF6600"/>
                </a:solidFill>
              </a:rPr>
              <a:t>= </a:t>
            </a:r>
            <a:r>
              <a:rPr lang="en-US" sz="900" dirty="0" smtClean="0"/>
              <a:t>{</a:t>
            </a:r>
          </a:p>
          <a:p>
            <a:r>
              <a:rPr lang="en-US" sz="900" dirty="0" err="1" smtClean="0">
                <a:solidFill>
                  <a:srgbClr val="979748"/>
                </a:solidFill>
              </a:rPr>
              <a:t>ReturnFunction</a:t>
            </a:r>
            <a:r>
              <a:rPr lang="en-US" sz="900" dirty="0" smtClean="0">
                <a:solidFill>
                  <a:srgbClr val="979748"/>
                </a:solidFill>
              </a:rPr>
              <a:t> </a:t>
            </a:r>
            <a:r>
              <a:rPr lang="en-US" sz="900" dirty="0" smtClean="0">
                <a:solidFill>
                  <a:srgbClr val="FF6600"/>
                </a:solidFill>
              </a:rPr>
              <a:t>: </a:t>
            </a:r>
            <a:r>
              <a:rPr lang="en-US" sz="900" dirty="0"/>
              <a:t>(</a:t>
            </a:r>
            <a:r>
              <a:rPr lang="en-US" sz="900" i="1" dirty="0"/>
              <a:t>type</a:t>
            </a:r>
            <a:r>
              <a:rPr lang="en-US" sz="900" dirty="0"/>
              <a:t>) </a:t>
            </a:r>
            <a:r>
              <a:rPr lang="en-US" sz="900" dirty="0">
                <a:solidFill>
                  <a:srgbClr val="FF6600"/>
                </a:solidFill>
              </a:rPr>
              <a:t>=&gt; </a:t>
            </a:r>
            <a:r>
              <a:rPr lang="en-US" sz="900" i="1" dirty="0"/>
              <a:t>alert</a:t>
            </a:r>
            <a:r>
              <a:rPr lang="en-US" sz="900" dirty="0"/>
              <a:t>(</a:t>
            </a:r>
            <a:r>
              <a:rPr lang="en-US" sz="900" i="1" dirty="0"/>
              <a:t>type</a:t>
            </a:r>
            <a:r>
              <a:rPr lang="en-US" sz="900" dirty="0" smtClean="0"/>
              <a:t>)</a:t>
            </a:r>
          </a:p>
          <a:p>
            <a:r>
              <a:rPr lang="en-US" sz="900" dirty="0" smtClean="0"/>
              <a:t>};}</a:t>
            </a:r>
            <a:endParaRPr lang="he-IL" sz="900" dirty="0"/>
          </a:p>
        </p:txBody>
      </p:sp>
      <p:sp>
        <p:nvSpPr>
          <p:cNvPr id="11" name="TextBox 10"/>
          <p:cNvSpPr txBox="1"/>
          <p:nvPr/>
        </p:nvSpPr>
        <p:spPr>
          <a:xfrm>
            <a:off x="4283968" y="2499742"/>
            <a:ext cx="3528392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1">
            <a:spAutoFit/>
          </a:bodyPr>
          <a:lstStyle/>
          <a:p>
            <a:r>
              <a:rPr lang="en-US" sz="900" dirty="0"/>
              <a:t>@Component({</a:t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b="1" dirty="0">
                <a:solidFill>
                  <a:srgbClr val="FDA5FF"/>
                </a:solidFill>
              </a:rPr>
              <a:t>selector</a:t>
            </a:r>
            <a:r>
              <a:rPr lang="en-US" sz="900" dirty="0">
                <a:solidFill>
                  <a:srgbClr val="FF6600"/>
                </a:solidFill>
              </a:rPr>
              <a:t>: </a:t>
            </a:r>
            <a:r>
              <a:rPr lang="en-US" sz="900" b="1" dirty="0">
                <a:solidFill>
                  <a:srgbClr val="66FF00"/>
                </a:solidFill>
              </a:rPr>
              <a:t>'app-dynamic-component1'</a:t>
            </a:r>
            <a:r>
              <a:rPr lang="en-US" sz="900" dirty="0"/>
              <a:t>,</a:t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b="1" dirty="0">
                <a:solidFill>
                  <a:srgbClr val="FDA5FF"/>
                </a:solidFill>
              </a:rPr>
              <a:t>template</a:t>
            </a:r>
            <a:r>
              <a:rPr lang="en-US" sz="900" dirty="0">
                <a:solidFill>
                  <a:srgbClr val="FF6600"/>
                </a:solidFill>
              </a:rPr>
              <a:t>: </a:t>
            </a:r>
            <a:r>
              <a:rPr lang="en-US" sz="900" b="1" dirty="0" smtClean="0">
                <a:solidFill>
                  <a:srgbClr val="66FF00"/>
                </a:solidFill>
              </a:rPr>
              <a:t>‘&lt;h1&gt; Dynamic </a:t>
            </a:r>
            <a:r>
              <a:rPr lang="en-US" sz="900" b="1" dirty="0">
                <a:solidFill>
                  <a:srgbClr val="66FF00"/>
                </a:solidFill>
              </a:rPr>
              <a:t>Component </a:t>
            </a:r>
            <a:r>
              <a:rPr lang="en-US" sz="900" b="1" dirty="0" smtClean="0">
                <a:solidFill>
                  <a:srgbClr val="66FF00"/>
                </a:solidFill>
              </a:rPr>
              <a:t>1 &lt;/h1&gt;'</a:t>
            </a:r>
            <a:r>
              <a:rPr lang="en-US" sz="900" b="1" dirty="0">
                <a:solidFill>
                  <a:srgbClr val="66FF00"/>
                </a:solidFill>
              </a:rPr>
              <a:t/>
            </a:r>
            <a:br>
              <a:rPr lang="en-US" sz="900" b="1" dirty="0">
                <a:solidFill>
                  <a:srgbClr val="66FF00"/>
                </a:solidFill>
              </a:rPr>
            </a:br>
            <a:r>
              <a:rPr lang="en-US" sz="900" dirty="0"/>
              <a:t>})</a:t>
            </a:r>
            <a:br>
              <a:rPr lang="en-US" sz="900" dirty="0"/>
            </a:br>
            <a:r>
              <a:rPr lang="en-US" sz="900" dirty="0">
                <a:solidFill>
                  <a:srgbClr val="FF6600"/>
                </a:solidFill>
              </a:rPr>
              <a:t>export class </a:t>
            </a:r>
            <a:r>
              <a:rPr lang="en-US" sz="900" dirty="0"/>
              <a:t>MyDynamicComponent1 {</a:t>
            </a:r>
            <a:br>
              <a:rPr lang="en-US" sz="900" dirty="0"/>
            </a:br>
            <a:r>
              <a:rPr lang="en-US" sz="900" dirty="0"/>
              <a:t/>
            </a:r>
            <a:br>
              <a:rPr lang="en-US" sz="900" dirty="0"/>
            </a:br>
            <a:r>
              <a:rPr lang="en-US" sz="900" dirty="0"/>
              <a:t>  @Input() </a:t>
            </a:r>
            <a:r>
              <a:rPr lang="en-US" sz="900" b="1" dirty="0" err="1">
                <a:solidFill>
                  <a:srgbClr val="FDA5FF"/>
                </a:solidFill>
              </a:rPr>
              <a:t>var</a:t>
            </a:r>
            <a:r>
              <a:rPr lang="en-US" sz="900" b="1" dirty="0">
                <a:solidFill>
                  <a:srgbClr val="FDA5FF"/>
                </a:solidFill>
              </a:rPr>
              <a:t> </a:t>
            </a:r>
            <a:r>
              <a:rPr lang="en-US" sz="900" dirty="0" smtClean="0">
                <a:solidFill>
                  <a:srgbClr val="FF6600"/>
                </a:solidFill>
              </a:rPr>
              <a:t>: </a:t>
            </a:r>
            <a:r>
              <a:rPr lang="en-US" sz="900" dirty="0">
                <a:solidFill>
                  <a:srgbClr val="FF6600"/>
                </a:solidFill>
              </a:rPr>
              <a:t>string</a:t>
            </a:r>
            <a:r>
              <a:rPr lang="en-US" sz="900" dirty="0"/>
              <a:t>;</a:t>
            </a:r>
            <a:br>
              <a:rPr lang="en-US" sz="900" dirty="0"/>
            </a:br>
            <a:r>
              <a:rPr lang="en-US" sz="900" dirty="0"/>
              <a:t>  @Input() </a:t>
            </a:r>
            <a:r>
              <a:rPr lang="en-US" sz="900" dirty="0" err="1">
                <a:solidFill>
                  <a:srgbClr val="979748"/>
                </a:solidFill>
              </a:rPr>
              <a:t>MyFunction</a:t>
            </a:r>
            <a:r>
              <a:rPr lang="en-US" sz="900" dirty="0">
                <a:solidFill>
                  <a:srgbClr val="979748"/>
                </a:solidFill>
              </a:rPr>
              <a:t> </a:t>
            </a:r>
            <a:r>
              <a:rPr lang="en-US" sz="900" dirty="0" smtClean="0">
                <a:solidFill>
                  <a:srgbClr val="FF6600"/>
                </a:solidFill>
              </a:rPr>
              <a:t>: </a:t>
            </a:r>
            <a:r>
              <a:rPr lang="en-US" sz="900" dirty="0"/>
              <a:t>Function;</a:t>
            </a:r>
            <a:br>
              <a:rPr lang="en-US" sz="900" dirty="0"/>
            </a:br>
            <a:r>
              <a:rPr lang="en-US" sz="900" dirty="0"/>
              <a:t>  @Output() </a:t>
            </a:r>
            <a:r>
              <a:rPr lang="en-US" sz="900" dirty="0" err="1">
                <a:solidFill>
                  <a:srgbClr val="979748"/>
                </a:solidFill>
              </a:rPr>
              <a:t>ReturnFunction</a:t>
            </a:r>
            <a:r>
              <a:rPr lang="en-US" sz="900" dirty="0">
                <a:solidFill>
                  <a:srgbClr val="979748"/>
                </a:solidFill>
              </a:rPr>
              <a:t> </a:t>
            </a:r>
            <a:r>
              <a:rPr lang="en-US" sz="900" dirty="0" smtClean="0">
                <a:solidFill>
                  <a:srgbClr val="FF6600"/>
                </a:solidFill>
              </a:rPr>
              <a:t>= </a:t>
            </a:r>
            <a:r>
              <a:rPr lang="en-US" sz="900" dirty="0">
                <a:solidFill>
                  <a:srgbClr val="FF6600"/>
                </a:solidFill>
              </a:rPr>
              <a:t>new </a:t>
            </a:r>
            <a:r>
              <a:rPr lang="en-US" sz="900" dirty="0" err="1"/>
              <a:t>EventEmitter</a:t>
            </a:r>
            <a:r>
              <a:rPr lang="en-US" sz="900" dirty="0">
                <a:solidFill>
                  <a:srgbClr val="FF6600"/>
                </a:solidFill>
              </a:rPr>
              <a:t>&lt;string&gt;</a:t>
            </a:r>
            <a:r>
              <a:rPr lang="en-US" sz="900" dirty="0"/>
              <a:t>();</a:t>
            </a:r>
            <a:br>
              <a:rPr lang="en-US" sz="900" dirty="0"/>
            </a:br>
            <a:r>
              <a:rPr lang="en-US" sz="900" dirty="0"/>
              <a:t/>
            </a:r>
            <a:br>
              <a:rPr lang="en-US" sz="900" dirty="0"/>
            </a:br>
            <a:r>
              <a:rPr lang="en-US" sz="900" dirty="0"/>
              <a:t>}</a:t>
            </a:r>
            <a:endParaRPr lang="he-IL" sz="900" dirty="0"/>
          </a:p>
        </p:txBody>
      </p:sp>
    </p:spTree>
    <p:extLst>
      <p:ext uri="{BB962C8B-B14F-4D97-AF65-F5344CB8AC3E}">
        <p14:creationId xmlns:p14="http://schemas.microsoft.com/office/powerpoint/2010/main" val="1129043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7</a:t>
            </a:fld>
            <a:endParaRPr lang="uk-UA"/>
          </a:p>
        </p:txBody>
      </p:sp>
      <p:sp>
        <p:nvSpPr>
          <p:cNvPr id="20" name="Title 34"/>
          <p:cNvSpPr>
            <a:spLocks noGrp="1"/>
          </p:cNvSpPr>
          <p:nvPr>
            <p:ph type="title"/>
          </p:nvPr>
        </p:nvSpPr>
        <p:spPr>
          <a:xfrm>
            <a:off x="457200" y="205979"/>
            <a:ext cx="5915000" cy="612887"/>
          </a:xfrm>
        </p:spPr>
        <p:txBody>
          <a:bodyPr>
            <a:normAutofit/>
          </a:bodyPr>
          <a:lstStyle/>
          <a:p>
            <a:r>
              <a:rPr lang="en-US" cap="all" dirty="0" smtClean="0">
                <a:latin typeface="+mn-lt"/>
                <a:cs typeface="+mn-cs"/>
              </a:rPr>
              <a:t>Angular 4 - DYNAMIC </a:t>
            </a:r>
            <a:r>
              <a:rPr lang="en-US" cap="all" dirty="0">
                <a:latin typeface="+mn-lt"/>
                <a:cs typeface="+mn-cs"/>
              </a:rPr>
              <a:t>COMPONENT </a:t>
            </a:r>
            <a:r>
              <a:rPr lang="en-US" cap="all" dirty="0" smtClean="0">
                <a:latin typeface="+mn-lt"/>
                <a:cs typeface="+mn-cs"/>
              </a:rPr>
              <a:t>LOADER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05353" y="1059582"/>
            <a:ext cx="793905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smtClean="0"/>
              <a:t>Third Way to use </a:t>
            </a:r>
            <a:r>
              <a:rPr lang="en-US" sz="1000" b="1" dirty="0"/>
              <a:t>(With </a:t>
            </a:r>
            <a:r>
              <a:rPr lang="en-US" sz="1000" b="1" dirty="0" err="1">
                <a:solidFill>
                  <a:srgbClr val="92D050"/>
                </a:solidFill>
              </a:rPr>
              <a:t>NgComponentOutlet</a:t>
            </a:r>
            <a:r>
              <a:rPr lang="en-US" sz="1000" b="1" dirty="0"/>
              <a:t>)</a:t>
            </a:r>
            <a:endParaRPr lang="en-US" sz="1000" b="1" dirty="0" smtClean="0"/>
          </a:p>
          <a:p>
            <a:endParaRPr lang="en-US" sz="1000" dirty="0">
              <a:solidFill>
                <a:schemeClr val="tx2"/>
              </a:solidFill>
            </a:endParaRPr>
          </a:p>
          <a:p>
            <a:r>
              <a:rPr lang="en-US" sz="1000" dirty="0"/>
              <a:t>You can also use </a:t>
            </a:r>
            <a:r>
              <a:rPr lang="en-US" sz="1000" b="1" dirty="0" err="1">
                <a:solidFill>
                  <a:srgbClr val="92D050"/>
                </a:solidFill>
                <a:hlinkClick r:id="rId3"/>
              </a:rPr>
              <a:t>NgComponentOutlet</a:t>
            </a:r>
            <a:r>
              <a:rPr lang="en-US" sz="1000" dirty="0"/>
              <a:t> directive from @angular/common instead of &lt;</a:t>
            </a:r>
            <a:r>
              <a:rPr lang="en-US" sz="1000" dirty="0" err="1"/>
              <a:t>ndc</a:t>
            </a:r>
            <a:r>
              <a:rPr lang="en-US" sz="1000" dirty="0"/>
              <a:t>-dynamic&gt; and apply inputs and outputs to your dynamic components</a:t>
            </a:r>
            <a:r>
              <a:rPr lang="en-US" sz="1000" dirty="0" smtClean="0"/>
              <a:t>:</a:t>
            </a:r>
            <a:endParaRPr lang="en-US" sz="1000" dirty="0"/>
          </a:p>
        </p:txBody>
      </p:sp>
      <p:sp>
        <p:nvSpPr>
          <p:cNvPr id="19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26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4" name="TextBox 3"/>
          <p:cNvSpPr txBox="1"/>
          <p:nvPr/>
        </p:nvSpPr>
        <p:spPr>
          <a:xfrm>
            <a:off x="355955" y="2139702"/>
            <a:ext cx="3528392" cy="2031325"/>
          </a:xfrm>
          <a:prstGeom prst="rect">
            <a:avLst/>
          </a:prstGeom>
          <a:solidFill>
            <a:srgbClr val="000000"/>
          </a:solidFill>
        </p:spPr>
        <p:txBody>
          <a:bodyPr wrap="square" rtlCol="1">
            <a:spAutoFit/>
          </a:bodyPr>
          <a:lstStyle/>
          <a:p>
            <a:r>
              <a:rPr lang="en-US" sz="900" dirty="0"/>
              <a:t>@Component({</a:t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b="1" dirty="0">
                <a:solidFill>
                  <a:srgbClr val="FDA5FF"/>
                </a:solidFill>
              </a:rPr>
              <a:t>selector</a:t>
            </a:r>
            <a:r>
              <a:rPr lang="en-US" sz="900" dirty="0">
                <a:solidFill>
                  <a:srgbClr val="FF6600"/>
                </a:solidFill>
              </a:rPr>
              <a:t>: </a:t>
            </a:r>
            <a:r>
              <a:rPr lang="en-US" sz="900" b="1" dirty="0" smtClean="0">
                <a:solidFill>
                  <a:srgbClr val="66FF00"/>
                </a:solidFill>
              </a:rPr>
              <a:t>'my-component'</a:t>
            </a:r>
            <a:r>
              <a:rPr lang="en-US" sz="900" dirty="0" smtClean="0"/>
              <a:t>,</a:t>
            </a:r>
            <a:r>
              <a:rPr lang="en-US" sz="900" dirty="0"/>
              <a:t/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b="1" dirty="0">
                <a:solidFill>
                  <a:srgbClr val="FDA5FF"/>
                </a:solidFill>
              </a:rPr>
              <a:t>template</a:t>
            </a:r>
            <a:r>
              <a:rPr lang="en-US" sz="900" dirty="0">
                <a:solidFill>
                  <a:srgbClr val="FF6600"/>
                </a:solidFill>
              </a:rPr>
              <a:t>: </a:t>
            </a:r>
            <a:r>
              <a:rPr lang="en-US" sz="900" b="1" dirty="0">
                <a:solidFill>
                  <a:srgbClr val="66FF00"/>
                </a:solidFill>
              </a:rPr>
              <a:t>`</a:t>
            </a:r>
            <a:br>
              <a:rPr lang="en-US" sz="900" b="1" dirty="0">
                <a:solidFill>
                  <a:srgbClr val="66FF00"/>
                </a:solidFill>
              </a:rPr>
            </a:br>
            <a:r>
              <a:rPr lang="en-US" sz="900" b="1" dirty="0">
                <a:solidFill>
                  <a:srgbClr val="66FF00"/>
                </a:solidFill>
              </a:rPr>
              <a:t>    &lt;div *</a:t>
            </a:r>
            <a:r>
              <a:rPr lang="en-US" sz="900" b="1" dirty="0" err="1">
                <a:solidFill>
                  <a:srgbClr val="66FF00"/>
                </a:solidFill>
              </a:rPr>
              <a:t>ngComponentOutlet</a:t>
            </a:r>
            <a:r>
              <a:rPr lang="en-US" sz="900" b="1" dirty="0">
                <a:solidFill>
                  <a:srgbClr val="66FF00"/>
                </a:solidFill>
              </a:rPr>
              <a:t>="</a:t>
            </a:r>
            <a:r>
              <a:rPr lang="en-US" sz="900" b="1" dirty="0">
                <a:solidFill>
                  <a:srgbClr val="FDA5FF"/>
                </a:solidFill>
              </a:rPr>
              <a:t>component</a:t>
            </a:r>
            <a:r>
              <a:rPr lang="en-US" sz="900" b="1" dirty="0">
                <a:solidFill>
                  <a:srgbClr val="66FF00"/>
                </a:solidFill>
              </a:rPr>
              <a:t>"</a:t>
            </a:r>
            <a:br>
              <a:rPr lang="en-US" sz="900" b="1" dirty="0">
                <a:solidFill>
                  <a:srgbClr val="66FF00"/>
                </a:solidFill>
              </a:rPr>
            </a:br>
            <a:r>
              <a:rPr lang="en-US" sz="900" b="1" dirty="0">
                <a:solidFill>
                  <a:srgbClr val="66FF00"/>
                </a:solidFill>
              </a:rPr>
              <a:t>         [</a:t>
            </a:r>
            <a:r>
              <a:rPr lang="en-US" sz="900" b="1" dirty="0" err="1">
                <a:solidFill>
                  <a:srgbClr val="66FF00"/>
                </a:solidFill>
              </a:rPr>
              <a:t>ndcDynamicInputs</a:t>
            </a:r>
            <a:r>
              <a:rPr lang="en-US" sz="900" b="1" dirty="0">
                <a:solidFill>
                  <a:srgbClr val="66FF00"/>
                </a:solidFill>
              </a:rPr>
              <a:t>]="</a:t>
            </a:r>
            <a:r>
              <a:rPr lang="en-US" sz="900" b="1" dirty="0">
                <a:solidFill>
                  <a:srgbClr val="FDA5FF"/>
                </a:solidFill>
              </a:rPr>
              <a:t>inputs</a:t>
            </a:r>
            <a:r>
              <a:rPr lang="en-US" sz="900" b="1" dirty="0">
                <a:solidFill>
                  <a:srgbClr val="66FF00"/>
                </a:solidFill>
              </a:rPr>
              <a:t>"</a:t>
            </a:r>
            <a:br>
              <a:rPr lang="en-US" sz="900" b="1" dirty="0">
                <a:solidFill>
                  <a:srgbClr val="66FF00"/>
                </a:solidFill>
              </a:rPr>
            </a:br>
            <a:r>
              <a:rPr lang="en-US" sz="900" b="1" dirty="0">
                <a:solidFill>
                  <a:srgbClr val="66FF00"/>
                </a:solidFill>
              </a:rPr>
              <a:t>         [</a:t>
            </a:r>
            <a:r>
              <a:rPr lang="en-US" sz="900" b="1" dirty="0" err="1">
                <a:solidFill>
                  <a:srgbClr val="66FF00"/>
                </a:solidFill>
              </a:rPr>
              <a:t>ndcDynamicOutputs</a:t>
            </a:r>
            <a:r>
              <a:rPr lang="en-US" sz="900" b="1" dirty="0">
                <a:solidFill>
                  <a:srgbClr val="66FF00"/>
                </a:solidFill>
              </a:rPr>
              <a:t>]="</a:t>
            </a:r>
            <a:r>
              <a:rPr lang="en-US" sz="900" b="1" dirty="0">
                <a:solidFill>
                  <a:srgbClr val="FDA5FF"/>
                </a:solidFill>
              </a:rPr>
              <a:t>outputs</a:t>
            </a:r>
            <a:r>
              <a:rPr lang="en-US" sz="900" b="1" dirty="0">
                <a:solidFill>
                  <a:srgbClr val="66FF00"/>
                </a:solidFill>
              </a:rPr>
              <a:t>"</a:t>
            </a:r>
            <a:br>
              <a:rPr lang="en-US" sz="900" b="1" dirty="0">
                <a:solidFill>
                  <a:srgbClr val="66FF00"/>
                </a:solidFill>
              </a:rPr>
            </a:br>
            <a:r>
              <a:rPr lang="en-US" sz="900" b="1" dirty="0">
                <a:solidFill>
                  <a:srgbClr val="66FF00"/>
                </a:solidFill>
              </a:rPr>
              <a:t>    &gt;&lt;/div&gt;`</a:t>
            </a:r>
            <a:br>
              <a:rPr lang="en-US" sz="900" b="1" dirty="0">
                <a:solidFill>
                  <a:srgbClr val="66FF00"/>
                </a:solidFill>
              </a:rPr>
            </a:br>
            <a:r>
              <a:rPr lang="en-US" sz="900" dirty="0"/>
              <a:t>})</a:t>
            </a:r>
            <a:br>
              <a:rPr lang="en-US" sz="900" dirty="0"/>
            </a:br>
            <a:r>
              <a:rPr lang="en-US" sz="900" dirty="0">
                <a:solidFill>
                  <a:srgbClr val="FF6600"/>
                </a:solidFill>
              </a:rPr>
              <a:t>export class </a:t>
            </a:r>
            <a:r>
              <a:rPr lang="en-US" sz="900" dirty="0" err="1" smtClean="0"/>
              <a:t>MyComponent</a:t>
            </a:r>
            <a:r>
              <a:rPr lang="en-US" sz="900" dirty="0" smtClean="0"/>
              <a:t> </a:t>
            </a:r>
            <a:r>
              <a:rPr lang="en-US" sz="900" dirty="0"/>
              <a:t>{</a:t>
            </a:r>
            <a:br>
              <a:rPr lang="en-US" sz="900" dirty="0"/>
            </a:br>
            <a:r>
              <a:rPr lang="en-US" sz="900" dirty="0"/>
              <a:t/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b="1" dirty="0">
                <a:solidFill>
                  <a:srgbClr val="FDA5FF"/>
                </a:solidFill>
              </a:rPr>
              <a:t>component </a:t>
            </a:r>
            <a:r>
              <a:rPr lang="en-US" sz="900" dirty="0">
                <a:solidFill>
                  <a:srgbClr val="FF6600"/>
                </a:solidFill>
              </a:rPr>
              <a:t>= </a:t>
            </a:r>
            <a:r>
              <a:rPr lang="en-US" sz="900" dirty="0"/>
              <a:t>MyDynamicComponent1;</a:t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b="1" dirty="0">
                <a:solidFill>
                  <a:srgbClr val="FDA5FF"/>
                </a:solidFill>
              </a:rPr>
              <a:t>inputs </a:t>
            </a:r>
            <a:r>
              <a:rPr lang="en-US" sz="900" dirty="0">
                <a:solidFill>
                  <a:srgbClr val="FF6600"/>
                </a:solidFill>
              </a:rPr>
              <a:t>= </a:t>
            </a:r>
            <a:r>
              <a:rPr lang="en-US" sz="900" dirty="0" smtClean="0"/>
              <a:t>{…};</a:t>
            </a:r>
            <a:r>
              <a:rPr lang="en-US" sz="900" dirty="0"/>
              <a:t/>
            </a:r>
            <a:br>
              <a:rPr lang="en-US" sz="900" dirty="0"/>
            </a:br>
            <a:r>
              <a:rPr lang="en-US" sz="900" dirty="0"/>
              <a:t>  </a:t>
            </a:r>
            <a:r>
              <a:rPr lang="en-US" sz="900" b="1" dirty="0">
                <a:solidFill>
                  <a:srgbClr val="FDA5FF"/>
                </a:solidFill>
              </a:rPr>
              <a:t>outputs </a:t>
            </a:r>
            <a:r>
              <a:rPr lang="en-US" sz="900" dirty="0">
                <a:solidFill>
                  <a:srgbClr val="FF6600"/>
                </a:solidFill>
              </a:rPr>
              <a:t>= </a:t>
            </a:r>
            <a:r>
              <a:rPr lang="en-US" sz="900" dirty="0" smtClean="0"/>
              <a:t>{…};</a:t>
            </a:r>
            <a:r>
              <a:rPr lang="en-US" sz="900" dirty="0"/>
              <a:t/>
            </a:r>
            <a:br>
              <a:rPr lang="en-US" sz="900" dirty="0"/>
            </a:br>
            <a:r>
              <a:rPr lang="en-US" sz="900" dirty="0"/>
              <a:t>}</a:t>
            </a:r>
            <a:endParaRPr lang="he-IL" sz="900" dirty="0"/>
          </a:p>
        </p:txBody>
      </p:sp>
    </p:spTree>
    <p:extLst>
      <p:ext uri="{BB962C8B-B14F-4D97-AF65-F5344CB8AC3E}">
        <p14:creationId xmlns:p14="http://schemas.microsoft.com/office/powerpoint/2010/main" val="48803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/>
          <p:cNvSpPr>
            <a:spLocks noGrp="1"/>
          </p:cNvSpPr>
          <p:nvPr>
            <p:ph type="title"/>
          </p:nvPr>
        </p:nvSpPr>
        <p:spPr>
          <a:xfrm>
            <a:off x="457200" y="205979"/>
            <a:ext cx="5915000" cy="612887"/>
          </a:xfrm>
        </p:spPr>
        <p:txBody>
          <a:bodyPr>
            <a:normAutofit/>
          </a:bodyPr>
          <a:lstStyle/>
          <a:p>
            <a:r>
              <a:rPr lang="en-US" cap="all" dirty="0" smtClean="0">
                <a:latin typeface="+mn-lt"/>
                <a:cs typeface="+mn-cs"/>
              </a:rPr>
              <a:t>Angular 4 - DYNAMIC </a:t>
            </a:r>
            <a:r>
              <a:rPr lang="en-US" cap="all" dirty="0">
                <a:latin typeface="+mn-lt"/>
                <a:cs typeface="+mn-cs"/>
              </a:rPr>
              <a:t>COMPONENT </a:t>
            </a:r>
            <a:r>
              <a:rPr lang="en-US" cap="all" dirty="0" smtClean="0">
                <a:latin typeface="+mn-lt"/>
                <a:cs typeface="+mn-cs"/>
              </a:rPr>
              <a:t>LOADER</a:t>
            </a:r>
            <a:endParaRPr lang="uk-UA" b="1" dirty="0">
              <a:latin typeface="+mn-lt"/>
              <a:cs typeface="+mn-cs"/>
            </a:endParaRPr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A12E19C-F0D7-470F-8E3A-FEF858791E3B}" type="slidenum">
              <a:rPr lang="uk-UA" smtClean="0"/>
              <a:pPr/>
              <a:t>8</a:t>
            </a:fld>
            <a:endParaRPr lang="uk-UA"/>
          </a:p>
        </p:txBody>
      </p:sp>
      <p:sp>
        <p:nvSpPr>
          <p:cNvPr id="20" name="Text Placeholder 9"/>
          <p:cNvSpPr txBox="1">
            <a:spLocks/>
          </p:cNvSpPr>
          <p:nvPr/>
        </p:nvSpPr>
        <p:spPr>
          <a:xfrm>
            <a:off x="395536" y="1131590"/>
            <a:ext cx="3474859" cy="28803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uk-UA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1" dirty="0">
                <a:solidFill>
                  <a:schemeClr val="tx2"/>
                </a:solidFill>
              </a:rPr>
              <a:t>DYNAMIC COMPONENT LOADER </a:t>
            </a:r>
            <a:endParaRPr lang="en-US" sz="1200" b="1" dirty="0" smtClean="0">
              <a:solidFill>
                <a:schemeClr val="tx2"/>
              </a:solidFill>
            </a:endParaRPr>
          </a:p>
          <a:p>
            <a:pPr algn="l"/>
            <a:endParaRPr lang="en-US" sz="1200" b="1" dirty="0">
              <a:solidFill>
                <a:schemeClr val="tx2"/>
              </a:solidFill>
            </a:endParaRPr>
          </a:p>
        </p:txBody>
      </p:sp>
      <p:sp>
        <p:nvSpPr>
          <p:cNvPr id="49" name="Text Placeholder 24"/>
          <p:cNvSpPr txBox="1">
            <a:spLocks/>
          </p:cNvSpPr>
          <p:nvPr/>
        </p:nvSpPr>
        <p:spPr>
          <a:xfrm>
            <a:off x="453405" y="1491630"/>
            <a:ext cx="648070" cy="845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uk-UA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uk-UA" sz="4400" dirty="0">
              <a:solidFill>
                <a:schemeClr val="accent1"/>
              </a:solidFill>
            </a:endParaRPr>
          </a:p>
        </p:txBody>
      </p:sp>
      <p:sp>
        <p:nvSpPr>
          <p:cNvPr id="52" name="Text Placeholder 24"/>
          <p:cNvSpPr txBox="1">
            <a:spLocks/>
          </p:cNvSpPr>
          <p:nvPr/>
        </p:nvSpPr>
        <p:spPr>
          <a:xfrm>
            <a:off x="540452" y="2438917"/>
            <a:ext cx="648070" cy="845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000" kern="1200" baseline="0">
                <a:solidFill>
                  <a:srgbClr val="808080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uk-UA" sz="4400" dirty="0">
              <a:solidFill>
                <a:schemeClr val="accent2"/>
              </a:solidFill>
            </a:endParaRPr>
          </a:p>
        </p:txBody>
      </p:sp>
      <p:sp>
        <p:nvSpPr>
          <p:cNvPr id="53" name="Text Placeholder 24"/>
          <p:cNvSpPr txBox="1">
            <a:spLocks/>
          </p:cNvSpPr>
          <p:nvPr/>
        </p:nvSpPr>
        <p:spPr>
          <a:xfrm>
            <a:off x="453405" y="3526400"/>
            <a:ext cx="648070" cy="84555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4400" dirty="0">
              <a:solidFill>
                <a:schemeClr val="accent3"/>
              </a:solidFill>
            </a:endParaRPr>
          </a:p>
        </p:txBody>
      </p:sp>
      <p:sp>
        <p:nvSpPr>
          <p:cNvPr id="33" name="Date Placeholder 37"/>
          <p:cNvSpPr>
            <a:spLocks noGrp="1"/>
          </p:cNvSpPr>
          <p:nvPr>
            <p:ph type="dt" sz="half" idx="14"/>
          </p:nvPr>
        </p:nvSpPr>
        <p:spPr>
          <a:xfrm>
            <a:off x="457200" y="4767263"/>
            <a:ext cx="3178696" cy="273844"/>
          </a:xfrm>
        </p:spPr>
        <p:txBody>
          <a:bodyPr/>
          <a:lstStyle/>
          <a:p>
            <a:r>
              <a:rPr lang="en-US" b="1" dirty="0" smtClean="0">
                <a:solidFill>
                  <a:schemeClr val="accent3"/>
                </a:solidFill>
              </a:rPr>
              <a:t>UI</a:t>
            </a:r>
            <a:r>
              <a:rPr lang="en-US" dirty="0" smtClean="0"/>
              <a:t> - </a:t>
            </a:r>
            <a:r>
              <a:rPr lang="en-US" dirty="0"/>
              <a:t>User Interface Design &amp; User Experience Design</a:t>
            </a:r>
            <a:endParaRPr lang="uk-UA" dirty="0"/>
          </a:p>
        </p:txBody>
      </p:sp>
      <p:sp>
        <p:nvSpPr>
          <p:cNvPr id="34" name="Footer Placeholder 38"/>
          <p:cNvSpPr>
            <a:spLocks noGrp="1"/>
          </p:cNvSpPr>
          <p:nvPr>
            <p:ph type="ftr" sz="quarter" idx="15"/>
          </p:nvPr>
        </p:nvSpPr>
        <p:spPr>
          <a:xfrm>
            <a:off x="2987824" y="4767263"/>
            <a:ext cx="2895600" cy="273844"/>
          </a:xfrm>
        </p:spPr>
        <p:txBody>
          <a:bodyPr/>
          <a:lstStyle/>
          <a:p>
            <a:r>
              <a:rPr lang="en-US" dirty="0"/>
              <a:t>http://www.ui.co.il</a:t>
            </a:r>
            <a:endParaRPr lang="uk-UA" dirty="0"/>
          </a:p>
        </p:txBody>
      </p:sp>
      <p:sp>
        <p:nvSpPr>
          <p:cNvPr id="11" name="Content Placeholder 45"/>
          <p:cNvSpPr txBox="1">
            <a:spLocks/>
          </p:cNvSpPr>
          <p:nvPr/>
        </p:nvSpPr>
        <p:spPr>
          <a:xfrm>
            <a:off x="486786" y="1419622"/>
            <a:ext cx="8261677" cy="7200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chemeClr val="tx2"/>
                </a:solidFill>
              </a:rPr>
              <a:t>You can have more advanced stuff over your dynamically rendered components like setting custom injector ([</a:t>
            </a:r>
            <a:r>
              <a:rPr lang="en-US" b="1" dirty="0" err="1">
                <a:solidFill>
                  <a:srgbClr val="92D050"/>
                </a:solidFill>
              </a:rPr>
              <a:t>ndcDynamicInjector</a:t>
            </a:r>
            <a:r>
              <a:rPr lang="en-US" dirty="0">
                <a:solidFill>
                  <a:schemeClr val="tx2"/>
                </a:solidFill>
              </a:rPr>
              <a:t>]) or providing additional/overriding providers ([</a:t>
            </a:r>
            <a:r>
              <a:rPr lang="en-US" b="1" dirty="0" err="1">
                <a:solidFill>
                  <a:srgbClr val="92D050"/>
                </a:solidFill>
              </a:rPr>
              <a:t>ndcDynamicProviders</a:t>
            </a:r>
            <a:r>
              <a:rPr lang="en-US" dirty="0">
                <a:solidFill>
                  <a:schemeClr val="tx2"/>
                </a:solidFill>
              </a:rPr>
              <a:t>]) or both simultaneously or projecting nodes ([</a:t>
            </a:r>
            <a:r>
              <a:rPr lang="en-US" b="1" dirty="0" err="1">
                <a:solidFill>
                  <a:srgbClr val="92D050"/>
                </a:solidFill>
              </a:rPr>
              <a:t>ndcDynamicContent</a:t>
            </a:r>
            <a:r>
              <a:rPr lang="en-US" dirty="0">
                <a:solidFill>
                  <a:schemeClr val="tx2"/>
                </a:solidFill>
              </a:rPr>
              <a:t>]).</a:t>
            </a: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12" name="Content Placeholder 45"/>
          <p:cNvSpPr txBox="1">
            <a:spLocks/>
          </p:cNvSpPr>
          <p:nvPr/>
        </p:nvSpPr>
        <p:spPr>
          <a:xfrm>
            <a:off x="453405" y="2139702"/>
            <a:ext cx="4694659" cy="28803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NOTE: In practice </a:t>
            </a:r>
            <a:r>
              <a:rPr lang="en-US" dirty="0" err="1"/>
              <a:t>funtionality</a:t>
            </a:r>
            <a:r>
              <a:rPr lang="en-US" dirty="0"/>
              <a:t> of this library is </a:t>
            </a:r>
            <a:r>
              <a:rPr lang="en-US" dirty="0" err="1"/>
              <a:t>splitted</a:t>
            </a:r>
            <a:r>
              <a:rPr lang="en-US" dirty="0"/>
              <a:t> in two pieces:</a:t>
            </a:r>
          </a:p>
          <a:p>
            <a:pPr marL="0" indent="0">
              <a:buNone/>
            </a:pP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9658" y="2499742"/>
            <a:ext cx="66031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/>
              <a:t>component </a:t>
            </a:r>
            <a:r>
              <a:rPr lang="en-US" sz="1000" dirty="0"/>
              <a:t>(</a:t>
            </a:r>
            <a:r>
              <a:rPr lang="en-US" sz="1000" dirty="0" err="1"/>
              <a:t>ndc</a:t>
            </a:r>
            <a:r>
              <a:rPr lang="en-US" sz="1000" dirty="0"/>
              <a:t>-dynamic) that is responsible for </a:t>
            </a:r>
            <a:r>
              <a:rPr lang="en-US" sz="1000" dirty="0" err="1"/>
              <a:t>instantianting</a:t>
            </a:r>
            <a:r>
              <a:rPr lang="en-US" sz="1000" dirty="0"/>
              <a:t> and rendering of dynamic components</a:t>
            </a:r>
            <a:r>
              <a:rPr lang="en-US" sz="1000" dirty="0" smtClean="0"/>
              <a:t>;</a:t>
            </a:r>
            <a:endParaRPr lang="en-US" sz="1000" dirty="0"/>
          </a:p>
        </p:txBody>
      </p:sp>
      <p:sp>
        <p:nvSpPr>
          <p:cNvPr id="14" name="Freeform 491"/>
          <p:cNvSpPr>
            <a:spLocks/>
          </p:cNvSpPr>
          <p:nvPr/>
        </p:nvSpPr>
        <p:spPr bwMode="auto">
          <a:xfrm>
            <a:off x="545493" y="2522679"/>
            <a:ext cx="159656" cy="156998"/>
          </a:xfrm>
          <a:custGeom>
            <a:avLst/>
            <a:gdLst>
              <a:gd name="T0" fmla="*/ 30 w 60"/>
              <a:gd name="T1" fmla="*/ 0 h 59"/>
              <a:gd name="T2" fmla="*/ 38 w 60"/>
              <a:gd name="T3" fmla="*/ 23 h 59"/>
              <a:gd name="T4" fmla="*/ 60 w 60"/>
              <a:gd name="T5" fmla="*/ 23 h 59"/>
              <a:gd name="T6" fmla="*/ 42 w 60"/>
              <a:gd name="T7" fmla="*/ 36 h 59"/>
              <a:gd name="T8" fmla="*/ 48 w 60"/>
              <a:gd name="T9" fmla="*/ 59 h 59"/>
              <a:gd name="T10" fmla="*/ 30 w 60"/>
              <a:gd name="T11" fmla="*/ 45 h 59"/>
              <a:gd name="T12" fmla="*/ 12 w 60"/>
              <a:gd name="T13" fmla="*/ 59 h 59"/>
              <a:gd name="T14" fmla="*/ 18 w 60"/>
              <a:gd name="T15" fmla="*/ 36 h 59"/>
              <a:gd name="T16" fmla="*/ 0 w 60"/>
              <a:gd name="T17" fmla="*/ 23 h 59"/>
              <a:gd name="T18" fmla="*/ 22 w 60"/>
              <a:gd name="T19" fmla="*/ 23 h 59"/>
              <a:gd name="T20" fmla="*/ 30 w 60"/>
              <a:gd name="T21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59">
                <a:moveTo>
                  <a:pt x="30" y="0"/>
                </a:moveTo>
                <a:lnTo>
                  <a:pt x="38" y="23"/>
                </a:lnTo>
                <a:lnTo>
                  <a:pt x="60" y="23"/>
                </a:lnTo>
                <a:lnTo>
                  <a:pt x="42" y="36"/>
                </a:lnTo>
                <a:lnTo>
                  <a:pt x="48" y="59"/>
                </a:lnTo>
                <a:lnTo>
                  <a:pt x="30" y="45"/>
                </a:lnTo>
                <a:lnTo>
                  <a:pt x="12" y="59"/>
                </a:lnTo>
                <a:lnTo>
                  <a:pt x="18" y="36"/>
                </a:lnTo>
                <a:lnTo>
                  <a:pt x="0" y="23"/>
                </a:lnTo>
                <a:lnTo>
                  <a:pt x="22" y="23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9208" y="2891720"/>
            <a:ext cx="7977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directive (</a:t>
            </a:r>
            <a:r>
              <a:rPr lang="en-US" sz="1000" dirty="0" err="1"/>
              <a:t>ndcDynamic</a:t>
            </a:r>
            <a:r>
              <a:rPr lang="en-US" sz="1000" dirty="0"/>
              <a:t> also bound to </a:t>
            </a:r>
            <a:r>
              <a:rPr lang="en-US" sz="1000" dirty="0" err="1"/>
              <a:t>ndc</a:t>
            </a:r>
            <a:r>
              <a:rPr lang="en-US" sz="1000" dirty="0"/>
              <a:t>-dynamic) that is responsible for carrying inputs/outputs to/from dynamic component by the help of so called </a:t>
            </a:r>
            <a:r>
              <a:rPr lang="en-US" sz="1000" dirty="0" err="1"/>
              <a:t>ComponentInjector</a:t>
            </a:r>
            <a:r>
              <a:rPr lang="en-US" sz="1000" dirty="0"/>
              <a:t> (it is </a:t>
            </a:r>
            <a:r>
              <a:rPr lang="en-US" sz="1000" dirty="0" err="1"/>
              <a:t>ndc</a:t>
            </a:r>
            <a:r>
              <a:rPr lang="en-US" sz="1000" dirty="0"/>
              <a:t>-dynamic by default).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6" name="Freeform 491"/>
          <p:cNvSpPr>
            <a:spLocks/>
          </p:cNvSpPr>
          <p:nvPr/>
        </p:nvSpPr>
        <p:spPr bwMode="auto">
          <a:xfrm>
            <a:off x="539552" y="2931790"/>
            <a:ext cx="159656" cy="156998"/>
          </a:xfrm>
          <a:custGeom>
            <a:avLst/>
            <a:gdLst>
              <a:gd name="T0" fmla="*/ 30 w 60"/>
              <a:gd name="T1" fmla="*/ 0 h 59"/>
              <a:gd name="T2" fmla="*/ 38 w 60"/>
              <a:gd name="T3" fmla="*/ 23 h 59"/>
              <a:gd name="T4" fmla="*/ 60 w 60"/>
              <a:gd name="T5" fmla="*/ 23 h 59"/>
              <a:gd name="T6" fmla="*/ 42 w 60"/>
              <a:gd name="T7" fmla="*/ 36 h 59"/>
              <a:gd name="T8" fmla="*/ 48 w 60"/>
              <a:gd name="T9" fmla="*/ 59 h 59"/>
              <a:gd name="T10" fmla="*/ 30 w 60"/>
              <a:gd name="T11" fmla="*/ 45 h 59"/>
              <a:gd name="T12" fmla="*/ 12 w 60"/>
              <a:gd name="T13" fmla="*/ 59 h 59"/>
              <a:gd name="T14" fmla="*/ 18 w 60"/>
              <a:gd name="T15" fmla="*/ 36 h 59"/>
              <a:gd name="T16" fmla="*/ 0 w 60"/>
              <a:gd name="T17" fmla="*/ 23 h 59"/>
              <a:gd name="T18" fmla="*/ 22 w 60"/>
              <a:gd name="T19" fmla="*/ 23 h 59"/>
              <a:gd name="T20" fmla="*/ 30 w 60"/>
              <a:gd name="T21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59">
                <a:moveTo>
                  <a:pt x="30" y="0"/>
                </a:moveTo>
                <a:lnTo>
                  <a:pt x="38" y="23"/>
                </a:lnTo>
                <a:lnTo>
                  <a:pt x="60" y="23"/>
                </a:lnTo>
                <a:lnTo>
                  <a:pt x="42" y="36"/>
                </a:lnTo>
                <a:lnTo>
                  <a:pt x="48" y="59"/>
                </a:lnTo>
                <a:lnTo>
                  <a:pt x="30" y="45"/>
                </a:lnTo>
                <a:lnTo>
                  <a:pt x="12" y="59"/>
                </a:lnTo>
                <a:lnTo>
                  <a:pt x="18" y="36"/>
                </a:lnTo>
                <a:lnTo>
                  <a:pt x="0" y="23"/>
                </a:lnTo>
                <a:lnTo>
                  <a:pt x="22" y="23"/>
                </a:lnTo>
                <a:lnTo>
                  <a:pt x="3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>
              <a:solidFill>
                <a:schemeClr val="tx2"/>
              </a:solidFill>
            </a:endParaRPr>
          </a:p>
        </p:txBody>
      </p:sp>
      <p:sp>
        <p:nvSpPr>
          <p:cNvPr id="17" name="Content Placeholder 45"/>
          <p:cNvSpPr txBox="1">
            <a:spLocks/>
          </p:cNvSpPr>
          <p:nvPr/>
        </p:nvSpPr>
        <p:spPr>
          <a:xfrm>
            <a:off x="452630" y="3363838"/>
            <a:ext cx="8295833" cy="130350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chemeClr val="tx2"/>
                </a:solidFill>
              </a:rPr>
              <a:t>Thanks to this separation you are able to connect inputs/outputs and life-cycle hooks to different mechanisms of injecting dynamic components by implementing </a:t>
            </a:r>
            <a:r>
              <a:rPr lang="en-US" b="1" dirty="0" err="1">
                <a:solidFill>
                  <a:srgbClr val="92D050"/>
                </a:solidFill>
              </a:rPr>
              <a:t>ComponentInjector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and providing it </a:t>
            </a:r>
            <a:r>
              <a:rPr lang="en-US" dirty="0" smtClean="0">
                <a:solidFill>
                  <a:schemeClr val="tx2"/>
                </a:solidFill>
              </a:rPr>
              <a:t>via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rgbClr val="92D050"/>
                </a:solidFill>
              </a:rPr>
              <a:t>DynamicModule</a:t>
            </a:r>
            <a:r>
              <a:rPr lang="en-US" dirty="0" err="1">
                <a:solidFill>
                  <a:schemeClr val="tx2"/>
                </a:solidFill>
              </a:rPr>
              <a:t>.</a:t>
            </a:r>
            <a:r>
              <a:rPr lang="en-US" i="1" dirty="0" err="1">
                <a:solidFill>
                  <a:srgbClr val="FFC000"/>
                </a:solidFill>
              </a:rPr>
              <a:t>withComponents</a:t>
            </a:r>
            <a:r>
              <a:rPr lang="en-US" dirty="0">
                <a:solidFill>
                  <a:schemeClr val="tx2"/>
                </a:solidFill>
              </a:rPr>
              <a:t>(null, [here]) in second argument</a:t>
            </a:r>
            <a:r>
              <a:rPr lang="en-US" dirty="0" smtClean="0">
                <a:solidFill>
                  <a:schemeClr val="tx2"/>
                </a:solidFill>
              </a:rPr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en-US" sz="700" dirty="0">
              <a:solidFill>
                <a:schemeClr val="tx2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chemeClr val="tx2"/>
                </a:solidFill>
              </a:rPr>
              <a:t>It was done to be able to reuse </a:t>
            </a:r>
            <a:r>
              <a:rPr lang="en-US" b="1" dirty="0" err="1">
                <a:solidFill>
                  <a:srgbClr val="92D050"/>
                </a:solidFill>
              </a:rPr>
              <a:t>NgComponentOutlet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added in Angular 4-beta.3.</a:t>
            </a:r>
            <a:endParaRPr lang="en-US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19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AA">
      <a:dk1>
        <a:srgbClr val="323232"/>
      </a:dk1>
      <a:lt1>
        <a:srgbClr val="FFFFFF"/>
      </a:lt1>
      <a:dk2>
        <a:srgbClr val="323232"/>
      </a:dk2>
      <a:lt2>
        <a:srgbClr val="C0C0C0"/>
      </a:lt2>
      <a:accent1>
        <a:srgbClr val="9FCE4D"/>
      </a:accent1>
      <a:accent2>
        <a:srgbClr val="E9A922"/>
      </a:accent2>
      <a:accent3>
        <a:srgbClr val="67B9E1"/>
      </a:accent3>
      <a:accent4>
        <a:srgbClr val="F25859"/>
      </a:accent4>
      <a:accent5>
        <a:srgbClr val="A1A1AF"/>
      </a:accent5>
      <a:accent6>
        <a:srgbClr val="E673BA"/>
      </a:accent6>
      <a:hlink>
        <a:srgbClr val="4BACC6"/>
      </a:hlink>
      <a:folHlink>
        <a:srgbClr val="5F497A"/>
      </a:folHlink>
    </a:clrScheme>
    <a:fontScheme name="A">
      <a:majorFont>
        <a:latin typeface="Georgia"/>
        <a:ea typeface=""/>
        <a:cs typeface=""/>
      </a:majorFont>
      <a:minorFont>
        <a:latin typeface="Roboto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2637</TotalTime>
  <Words>576</Words>
  <Application>Microsoft Office PowerPoint</Application>
  <PresentationFormat>On-screen Show (16:9)</PresentationFormat>
  <Paragraphs>105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Angular 4 - DYNAMIC COMPONENT LOADER</vt:lpstr>
      <vt:lpstr>Angular 4 - DYNAMIC COMPONENT LOADER</vt:lpstr>
      <vt:lpstr>Angular 4 - DYNAMIC COMPONENT LOADER</vt:lpstr>
      <vt:lpstr>Angular 4 - DYNAMIC COMPONENT LOADER</vt:lpstr>
      <vt:lpstr>Angular 4 - DYNAMIC COMPONENT LOADER</vt:lpstr>
      <vt:lpstr>Angular 4 - DYNAMIC COMPONENT LOADER</vt:lpstr>
      <vt:lpstr>Angular 4 - DYNAMIC COMPONENT LOADER</vt:lpstr>
      <vt:lpstr>Angular 4 - DYNAMIC COMPONENT LOADER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</dc:creator>
  <cp:lastModifiedBy>Nir Zigdon</cp:lastModifiedBy>
  <cp:revision>220</cp:revision>
  <dcterms:created xsi:type="dcterms:W3CDTF">2014-09-29T08:45:48Z</dcterms:created>
  <dcterms:modified xsi:type="dcterms:W3CDTF">2017-10-23T15:14:44Z</dcterms:modified>
</cp:coreProperties>
</file>