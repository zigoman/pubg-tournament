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22" r:id="rId3"/>
    <p:sldId id="284" r:id="rId4"/>
    <p:sldId id="357" r:id="rId5"/>
    <p:sldId id="358" r:id="rId6"/>
    <p:sldId id="359" r:id="rId7"/>
    <p:sldId id="360" r:id="rId8"/>
    <p:sldId id="361" r:id="rId9"/>
    <p:sldId id="362" r:id="rId10"/>
  </p:sldIdLst>
  <p:sldSz cx="9144000" cy="5143500" type="screen16x9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25252"/>
    <a:srgbClr val="FFFFFF"/>
    <a:srgbClr val="323232"/>
    <a:srgbClr val="B2B2B2"/>
    <a:srgbClr val="EAEAEA"/>
    <a:srgbClr val="969696"/>
    <a:srgbClr val="111111"/>
    <a:srgbClr val="212121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29" autoAdjust="0"/>
  </p:normalViewPr>
  <p:slideViewPr>
    <p:cSldViewPr showGuides="1">
      <p:cViewPr>
        <p:scale>
          <a:sx n="150" d="100"/>
          <a:sy n="150" d="100"/>
        </p:scale>
        <p:origin x="-492" y="138"/>
      </p:cViewPr>
      <p:guideLst>
        <p:guide orient="horz" pos="1620"/>
        <p:guide orient="horz" pos="2890"/>
        <p:guide orient="horz" pos="758"/>
        <p:guide pos="2880"/>
        <p:guide pos="295"/>
        <p:guide pos="5465"/>
      </p:guideLst>
    </p:cSldViewPr>
  </p:slideViewPr>
  <p:outlineViewPr>
    <p:cViewPr>
      <p:scale>
        <a:sx n="33" d="100"/>
        <a:sy n="33" d="100"/>
      </p:scale>
      <p:origin x="36" y="16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C47ED-BCED-447B-976C-9F62F89F0395}" type="datetimeFigureOut">
              <a:rPr lang="uk-UA" smtClean="0"/>
              <a:t>23.06.2018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8A809-437D-4988-93A0-22C45D92B2D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168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-1"/>
            <a:ext cx="9144000" cy="5143500"/>
          </a:xfrm>
          <a:prstGeom prst="rect">
            <a:avLst/>
          </a:prstGeom>
          <a:noFill/>
          <a:ln>
            <a:noFill/>
          </a:ln>
          <a:effectLst>
            <a:outerShdw blurRad="25400" dist="12700" dir="5400000" algn="tl" rotWithShape="0">
              <a:prstClr val="black">
                <a:alpha val="2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75856" y="2036680"/>
            <a:ext cx="4966320" cy="679086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 smtClean="0"/>
              <a:t>PowerPoint</a:t>
            </a:r>
            <a:endParaRPr lang="uk-U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5856" y="2715766"/>
            <a:ext cx="4968552" cy="720080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uk-UA"/>
          </a:p>
        </p:txBody>
      </p:sp>
      <p:sp>
        <p:nvSpPr>
          <p:cNvPr id="8" name="Oval 7"/>
          <p:cNvSpPr/>
          <p:nvPr userDrawn="1"/>
        </p:nvSpPr>
        <p:spPr>
          <a:xfrm>
            <a:off x="1427644" y="1746210"/>
            <a:ext cx="1781604" cy="178160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" dist="127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9" name="Freeform 558"/>
          <p:cNvSpPr>
            <a:spLocks noEditPoints="1"/>
          </p:cNvSpPr>
          <p:nvPr userDrawn="1"/>
        </p:nvSpPr>
        <p:spPr bwMode="auto">
          <a:xfrm>
            <a:off x="1674035" y="2364739"/>
            <a:ext cx="1288822" cy="568610"/>
          </a:xfrm>
          <a:custGeom>
            <a:avLst/>
            <a:gdLst>
              <a:gd name="T0" fmla="*/ 318 w 400"/>
              <a:gd name="T1" fmla="*/ 0 h 176"/>
              <a:gd name="T2" fmla="*/ 200 w 400"/>
              <a:gd name="T3" fmla="*/ 58 h 176"/>
              <a:gd name="T4" fmla="*/ 82 w 400"/>
              <a:gd name="T5" fmla="*/ 0 h 176"/>
              <a:gd name="T6" fmla="*/ 0 w 400"/>
              <a:gd name="T7" fmla="*/ 88 h 176"/>
              <a:gd name="T8" fmla="*/ 82 w 400"/>
              <a:gd name="T9" fmla="*/ 176 h 176"/>
              <a:gd name="T10" fmla="*/ 82 w 400"/>
              <a:gd name="T11" fmla="*/ 176 h 176"/>
              <a:gd name="T12" fmla="*/ 200 w 400"/>
              <a:gd name="T13" fmla="*/ 118 h 176"/>
              <a:gd name="T14" fmla="*/ 318 w 400"/>
              <a:gd name="T15" fmla="*/ 176 h 176"/>
              <a:gd name="T16" fmla="*/ 400 w 400"/>
              <a:gd name="T17" fmla="*/ 88 h 176"/>
              <a:gd name="T18" fmla="*/ 318 w 400"/>
              <a:gd name="T19" fmla="*/ 0 h 176"/>
              <a:gd name="T20" fmla="*/ 82 w 400"/>
              <a:gd name="T21" fmla="*/ 141 h 176"/>
              <a:gd name="T22" fmla="*/ 36 w 400"/>
              <a:gd name="T23" fmla="*/ 88 h 176"/>
              <a:gd name="T24" fmla="*/ 82 w 400"/>
              <a:gd name="T25" fmla="*/ 35 h 176"/>
              <a:gd name="T26" fmla="*/ 178 w 400"/>
              <a:gd name="T27" fmla="*/ 88 h 176"/>
              <a:gd name="T28" fmla="*/ 82 w 400"/>
              <a:gd name="T29" fmla="*/ 141 h 176"/>
              <a:gd name="T30" fmla="*/ 318 w 400"/>
              <a:gd name="T31" fmla="*/ 141 h 176"/>
              <a:gd name="T32" fmla="*/ 222 w 400"/>
              <a:gd name="T33" fmla="*/ 88 h 176"/>
              <a:gd name="T34" fmla="*/ 318 w 400"/>
              <a:gd name="T35" fmla="*/ 35 h 176"/>
              <a:gd name="T36" fmla="*/ 363 w 400"/>
              <a:gd name="T37" fmla="*/ 88 h 176"/>
              <a:gd name="T38" fmla="*/ 318 w 400"/>
              <a:gd name="T39" fmla="*/ 141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00" h="176">
                <a:moveTo>
                  <a:pt x="318" y="0"/>
                </a:moveTo>
                <a:cubicBezTo>
                  <a:pt x="276" y="0"/>
                  <a:pt x="231" y="23"/>
                  <a:pt x="200" y="58"/>
                </a:cubicBezTo>
                <a:cubicBezTo>
                  <a:pt x="169" y="23"/>
                  <a:pt x="123" y="0"/>
                  <a:pt x="82" y="0"/>
                </a:cubicBezTo>
                <a:cubicBezTo>
                  <a:pt x="42" y="0"/>
                  <a:pt x="0" y="23"/>
                  <a:pt x="0" y="88"/>
                </a:cubicBezTo>
                <a:cubicBezTo>
                  <a:pt x="0" y="153"/>
                  <a:pt x="42" y="176"/>
                  <a:pt x="82" y="176"/>
                </a:cubicBezTo>
                <a:cubicBezTo>
                  <a:pt x="82" y="176"/>
                  <a:pt x="82" y="176"/>
                  <a:pt x="82" y="176"/>
                </a:cubicBezTo>
                <a:cubicBezTo>
                  <a:pt x="123" y="176"/>
                  <a:pt x="169" y="153"/>
                  <a:pt x="200" y="118"/>
                </a:cubicBezTo>
                <a:cubicBezTo>
                  <a:pt x="231" y="153"/>
                  <a:pt x="276" y="176"/>
                  <a:pt x="318" y="176"/>
                </a:cubicBezTo>
                <a:cubicBezTo>
                  <a:pt x="357" y="176"/>
                  <a:pt x="400" y="153"/>
                  <a:pt x="400" y="88"/>
                </a:cubicBezTo>
                <a:cubicBezTo>
                  <a:pt x="400" y="23"/>
                  <a:pt x="357" y="0"/>
                  <a:pt x="318" y="0"/>
                </a:cubicBezTo>
                <a:close/>
                <a:moveTo>
                  <a:pt x="82" y="141"/>
                </a:moveTo>
                <a:cubicBezTo>
                  <a:pt x="51" y="141"/>
                  <a:pt x="36" y="123"/>
                  <a:pt x="36" y="88"/>
                </a:cubicBezTo>
                <a:cubicBezTo>
                  <a:pt x="36" y="53"/>
                  <a:pt x="51" y="35"/>
                  <a:pt x="82" y="35"/>
                </a:cubicBezTo>
                <a:cubicBezTo>
                  <a:pt x="115" y="35"/>
                  <a:pt x="154" y="57"/>
                  <a:pt x="178" y="88"/>
                </a:cubicBezTo>
                <a:cubicBezTo>
                  <a:pt x="154" y="119"/>
                  <a:pt x="115" y="141"/>
                  <a:pt x="82" y="141"/>
                </a:cubicBezTo>
                <a:close/>
                <a:moveTo>
                  <a:pt x="318" y="141"/>
                </a:moveTo>
                <a:cubicBezTo>
                  <a:pt x="284" y="141"/>
                  <a:pt x="246" y="119"/>
                  <a:pt x="222" y="88"/>
                </a:cubicBezTo>
                <a:cubicBezTo>
                  <a:pt x="246" y="57"/>
                  <a:pt x="284" y="35"/>
                  <a:pt x="318" y="35"/>
                </a:cubicBezTo>
                <a:cubicBezTo>
                  <a:pt x="348" y="35"/>
                  <a:pt x="363" y="53"/>
                  <a:pt x="363" y="88"/>
                </a:cubicBezTo>
                <a:cubicBezTo>
                  <a:pt x="363" y="123"/>
                  <a:pt x="348" y="141"/>
                  <a:pt x="318" y="14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6" name="Freeform 558"/>
          <p:cNvSpPr>
            <a:spLocks noEditPoints="1"/>
          </p:cNvSpPr>
          <p:nvPr userDrawn="1"/>
        </p:nvSpPr>
        <p:spPr bwMode="auto">
          <a:xfrm>
            <a:off x="1674035" y="2352707"/>
            <a:ext cx="1288822" cy="568610"/>
          </a:xfrm>
          <a:custGeom>
            <a:avLst/>
            <a:gdLst>
              <a:gd name="T0" fmla="*/ 318 w 400"/>
              <a:gd name="T1" fmla="*/ 0 h 176"/>
              <a:gd name="T2" fmla="*/ 200 w 400"/>
              <a:gd name="T3" fmla="*/ 58 h 176"/>
              <a:gd name="T4" fmla="*/ 82 w 400"/>
              <a:gd name="T5" fmla="*/ 0 h 176"/>
              <a:gd name="T6" fmla="*/ 0 w 400"/>
              <a:gd name="T7" fmla="*/ 88 h 176"/>
              <a:gd name="T8" fmla="*/ 82 w 400"/>
              <a:gd name="T9" fmla="*/ 176 h 176"/>
              <a:gd name="T10" fmla="*/ 82 w 400"/>
              <a:gd name="T11" fmla="*/ 176 h 176"/>
              <a:gd name="T12" fmla="*/ 200 w 400"/>
              <a:gd name="T13" fmla="*/ 118 h 176"/>
              <a:gd name="T14" fmla="*/ 318 w 400"/>
              <a:gd name="T15" fmla="*/ 176 h 176"/>
              <a:gd name="T16" fmla="*/ 400 w 400"/>
              <a:gd name="T17" fmla="*/ 88 h 176"/>
              <a:gd name="T18" fmla="*/ 318 w 400"/>
              <a:gd name="T19" fmla="*/ 0 h 176"/>
              <a:gd name="T20" fmla="*/ 82 w 400"/>
              <a:gd name="T21" fmla="*/ 141 h 176"/>
              <a:gd name="T22" fmla="*/ 36 w 400"/>
              <a:gd name="T23" fmla="*/ 88 h 176"/>
              <a:gd name="T24" fmla="*/ 82 w 400"/>
              <a:gd name="T25" fmla="*/ 35 h 176"/>
              <a:gd name="T26" fmla="*/ 178 w 400"/>
              <a:gd name="T27" fmla="*/ 88 h 176"/>
              <a:gd name="T28" fmla="*/ 82 w 400"/>
              <a:gd name="T29" fmla="*/ 141 h 176"/>
              <a:gd name="T30" fmla="*/ 318 w 400"/>
              <a:gd name="T31" fmla="*/ 141 h 176"/>
              <a:gd name="T32" fmla="*/ 222 w 400"/>
              <a:gd name="T33" fmla="*/ 88 h 176"/>
              <a:gd name="T34" fmla="*/ 318 w 400"/>
              <a:gd name="T35" fmla="*/ 35 h 176"/>
              <a:gd name="T36" fmla="*/ 363 w 400"/>
              <a:gd name="T37" fmla="*/ 88 h 176"/>
              <a:gd name="T38" fmla="*/ 318 w 400"/>
              <a:gd name="T39" fmla="*/ 141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00" h="176">
                <a:moveTo>
                  <a:pt x="318" y="0"/>
                </a:moveTo>
                <a:cubicBezTo>
                  <a:pt x="276" y="0"/>
                  <a:pt x="231" y="23"/>
                  <a:pt x="200" y="58"/>
                </a:cubicBezTo>
                <a:cubicBezTo>
                  <a:pt x="169" y="23"/>
                  <a:pt x="123" y="0"/>
                  <a:pt x="82" y="0"/>
                </a:cubicBezTo>
                <a:cubicBezTo>
                  <a:pt x="42" y="0"/>
                  <a:pt x="0" y="23"/>
                  <a:pt x="0" y="88"/>
                </a:cubicBezTo>
                <a:cubicBezTo>
                  <a:pt x="0" y="153"/>
                  <a:pt x="42" y="176"/>
                  <a:pt x="82" y="176"/>
                </a:cubicBezTo>
                <a:cubicBezTo>
                  <a:pt x="82" y="176"/>
                  <a:pt x="82" y="176"/>
                  <a:pt x="82" y="176"/>
                </a:cubicBezTo>
                <a:cubicBezTo>
                  <a:pt x="123" y="176"/>
                  <a:pt x="169" y="153"/>
                  <a:pt x="200" y="118"/>
                </a:cubicBezTo>
                <a:cubicBezTo>
                  <a:pt x="231" y="153"/>
                  <a:pt x="276" y="176"/>
                  <a:pt x="318" y="176"/>
                </a:cubicBezTo>
                <a:cubicBezTo>
                  <a:pt x="357" y="176"/>
                  <a:pt x="400" y="153"/>
                  <a:pt x="400" y="88"/>
                </a:cubicBezTo>
                <a:cubicBezTo>
                  <a:pt x="400" y="23"/>
                  <a:pt x="357" y="0"/>
                  <a:pt x="318" y="0"/>
                </a:cubicBezTo>
                <a:close/>
                <a:moveTo>
                  <a:pt x="82" y="141"/>
                </a:moveTo>
                <a:cubicBezTo>
                  <a:pt x="51" y="141"/>
                  <a:pt x="36" y="123"/>
                  <a:pt x="36" y="88"/>
                </a:cubicBezTo>
                <a:cubicBezTo>
                  <a:pt x="36" y="53"/>
                  <a:pt x="51" y="35"/>
                  <a:pt x="82" y="35"/>
                </a:cubicBezTo>
                <a:cubicBezTo>
                  <a:pt x="115" y="35"/>
                  <a:pt x="154" y="57"/>
                  <a:pt x="178" y="88"/>
                </a:cubicBezTo>
                <a:cubicBezTo>
                  <a:pt x="154" y="119"/>
                  <a:pt x="115" y="141"/>
                  <a:pt x="82" y="141"/>
                </a:cubicBezTo>
                <a:close/>
                <a:moveTo>
                  <a:pt x="318" y="141"/>
                </a:moveTo>
                <a:cubicBezTo>
                  <a:pt x="284" y="141"/>
                  <a:pt x="246" y="119"/>
                  <a:pt x="222" y="88"/>
                </a:cubicBezTo>
                <a:cubicBezTo>
                  <a:pt x="246" y="57"/>
                  <a:pt x="284" y="35"/>
                  <a:pt x="318" y="35"/>
                </a:cubicBezTo>
                <a:cubicBezTo>
                  <a:pt x="348" y="35"/>
                  <a:pt x="363" y="53"/>
                  <a:pt x="363" y="88"/>
                </a:cubicBezTo>
                <a:cubicBezTo>
                  <a:pt x="363" y="123"/>
                  <a:pt x="348" y="141"/>
                  <a:pt x="318" y="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27331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3325"/>
            <a:ext cx="8229600" cy="33912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k-UA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00658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accent3"/>
                </a:solidFill>
              </a:rPr>
              <a:t>COMPANY</a:t>
            </a:r>
            <a:r>
              <a:rPr lang="en-US" dirty="0" err="1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038224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3900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-1"/>
            <a:ext cx="9144000" cy="5143500"/>
          </a:xfrm>
          <a:prstGeom prst="rect">
            <a:avLst/>
          </a:prstGeom>
          <a:noFill/>
          <a:ln>
            <a:noFill/>
          </a:ln>
          <a:effectLst>
            <a:outerShdw blurRad="25400" dist="12700" dir="5400000" algn="tl" rotWithShape="0">
              <a:prstClr val="black">
                <a:alpha val="2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38823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96422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Rectangle 7"/>
          <p:cNvSpPr/>
          <p:nvPr userDrawn="1"/>
        </p:nvSpPr>
        <p:spPr>
          <a:xfrm>
            <a:off x="-18130" y="4399183"/>
            <a:ext cx="9162130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0" y="771550"/>
            <a:ext cx="9144000" cy="3627633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9817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68313" y="4083918"/>
            <a:ext cx="4464050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3" y="1707654"/>
            <a:ext cx="4464050" cy="2375892"/>
          </a:xfrm>
        </p:spPr>
        <p:txBody>
          <a:bodyPr/>
          <a:lstStyle/>
          <a:p>
            <a:endParaRPr lang="uk-UA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5292080" y="2211710"/>
            <a:ext cx="3383608" cy="187292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5292271" y="1708150"/>
            <a:ext cx="3383417" cy="3587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03261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0182" y="2859782"/>
            <a:ext cx="822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50182" y="1203325"/>
            <a:ext cx="8225506" cy="1656457"/>
          </a:xfrm>
        </p:spPr>
        <p:txBody>
          <a:bodyPr/>
          <a:lstStyle/>
          <a:p>
            <a:endParaRPr lang="uk-UA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468312" y="3651411"/>
            <a:ext cx="8207375" cy="936464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68504" y="3147851"/>
            <a:ext cx="4463859" cy="3587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46939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8130" y="4399183"/>
            <a:ext cx="9162130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0" y="1203325"/>
            <a:ext cx="9144000" cy="3195858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0021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788024" y="2859782"/>
            <a:ext cx="3887664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788024" y="1203325"/>
            <a:ext cx="3887664" cy="1656457"/>
          </a:xfrm>
        </p:spPr>
        <p:txBody>
          <a:bodyPr/>
          <a:lstStyle/>
          <a:p>
            <a:endParaRPr lang="uk-UA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468313" y="1685251"/>
            <a:ext cx="3959671" cy="290262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68505" y="1181692"/>
            <a:ext cx="3959480" cy="3587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2" name="Content Placeholder 6"/>
          <p:cNvSpPr>
            <a:spLocks noGrp="1"/>
          </p:cNvSpPr>
          <p:nvPr>
            <p:ph sz="quarter" idx="21"/>
          </p:nvPr>
        </p:nvSpPr>
        <p:spPr>
          <a:xfrm>
            <a:off x="4788024" y="3219822"/>
            <a:ext cx="3885956" cy="1368052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1166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68313" y="3149903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3" y="1205687"/>
            <a:ext cx="2447503" cy="1943844"/>
          </a:xfrm>
        </p:spPr>
        <p:txBody>
          <a:bodyPr/>
          <a:lstStyle/>
          <a:p>
            <a:endParaRPr lang="uk-UA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468313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68505" y="3435846"/>
            <a:ext cx="1871272" cy="504056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2" name="Rectangle 7"/>
          <p:cNvSpPr/>
          <p:nvPr userDrawn="1"/>
        </p:nvSpPr>
        <p:spPr>
          <a:xfrm>
            <a:off x="3347864" y="3149903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3347864" y="1205687"/>
            <a:ext cx="2447503" cy="1943844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Content Placeholder 6"/>
          <p:cNvSpPr>
            <a:spLocks noGrp="1"/>
          </p:cNvSpPr>
          <p:nvPr>
            <p:ph sz="quarter" idx="22"/>
          </p:nvPr>
        </p:nvSpPr>
        <p:spPr>
          <a:xfrm>
            <a:off x="3347864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23" hasCustomPrompt="1"/>
          </p:nvPr>
        </p:nvSpPr>
        <p:spPr>
          <a:xfrm>
            <a:off x="3348056" y="3435846"/>
            <a:ext cx="1871272" cy="504056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8" name="Rectangle 7"/>
          <p:cNvSpPr/>
          <p:nvPr userDrawn="1"/>
        </p:nvSpPr>
        <p:spPr>
          <a:xfrm>
            <a:off x="6228928" y="3149903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6228928" y="1205687"/>
            <a:ext cx="2447503" cy="1943844"/>
          </a:xfrm>
        </p:spPr>
        <p:txBody>
          <a:bodyPr/>
          <a:lstStyle/>
          <a:p>
            <a:endParaRPr lang="uk-UA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25"/>
          </p:nvPr>
        </p:nvSpPr>
        <p:spPr>
          <a:xfrm>
            <a:off x="6228928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6229120" y="3435846"/>
            <a:ext cx="1871272" cy="504056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919158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054467" y="1203325"/>
            <a:ext cx="1035066" cy="1035064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uk-UA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9"/>
          </p:nvPr>
        </p:nvSpPr>
        <p:spPr>
          <a:xfrm>
            <a:off x="4702539" y="1275606"/>
            <a:ext cx="2879725" cy="9361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k-UA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899592" y="2429930"/>
            <a:ext cx="742642" cy="74264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uk-UA" dirty="0"/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21" hasCustomPrompt="1"/>
          </p:nvPr>
        </p:nvSpPr>
        <p:spPr>
          <a:xfrm>
            <a:off x="1401453" y="2499742"/>
            <a:ext cx="1800200" cy="64861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text</a:t>
            </a:r>
            <a:endParaRPr lang="uk-UA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3419871" y="2429930"/>
            <a:ext cx="742642" cy="74264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uk-UA" dirty="0"/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23" hasCustomPrompt="1"/>
          </p:nvPr>
        </p:nvSpPr>
        <p:spPr>
          <a:xfrm>
            <a:off x="3921732" y="2499742"/>
            <a:ext cx="1800200" cy="64861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text</a:t>
            </a:r>
            <a:endParaRPr lang="uk-UA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5940151" y="2429930"/>
            <a:ext cx="742642" cy="74264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uk-UA" dirty="0"/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25" hasCustomPrompt="1"/>
          </p:nvPr>
        </p:nvSpPr>
        <p:spPr>
          <a:xfrm>
            <a:off x="6442012" y="2499742"/>
            <a:ext cx="1800200" cy="64861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text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59302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68313" y="3363838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3" y="1851670"/>
            <a:ext cx="2447503" cy="1511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468313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68505" y="3579862"/>
            <a:ext cx="2446568" cy="360040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2" name="Rectangle 7"/>
          <p:cNvSpPr/>
          <p:nvPr userDrawn="1"/>
        </p:nvSpPr>
        <p:spPr>
          <a:xfrm>
            <a:off x="3347864" y="3363838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3347864" y="1851670"/>
            <a:ext cx="2447503" cy="1511796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Content Placeholder 6"/>
          <p:cNvSpPr>
            <a:spLocks noGrp="1"/>
          </p:cNvSpPr>
          <p:nvPr>
            <p:ph sz="quarter" idx="22"/>
          </p:nvPr>
        </p:nvSpPr>
        <p:spPr>
          <a:xfrm>
            <a:off x="3347864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23" hasCustomPrompt="1"/>
          </p:nvPr>
        </p:nvSpPr>
        <p:spPr>
          <a:xfrm>
            <a:off x="3348056" y="3579862"/>
            <a:ext cx="2446568" cy="360040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8" name="Rectangle 7"/>
          <p:cNvSpPr/>
          <p:nvPr userDrawn="1"/>
        </p:nvSpPr>
        <p:spPr>
          <a:xfrm>
            <a:off x="6228928" y="3363838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6228928" y="1851670"/>
            <a:ext cx="2447503" cy="1511796"/>
          </a:xfrm>
        </p:spPr>
        <p:txBody>
          <a:bodyPr/>
          <a:lstStyle/>
          <a:p>
            <a:endParaRPr lang="uk-UA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25"/>
          </p:nvPr>
        </p:nvSpPr>
        <p:spPr>
          <a:xfrm>
            <a:off x="6228928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6229120" y="3579862"/>
            <a:ext cx="2446568" cy="360040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22" name="Content Placeholder 6"/>
          <p:cNvSpPr>
            <a:spLocks noGrp="1"/>
          </p:cNvSpPr>
          <p:nvPr>
            <p:ph sz="quarter" idx="27"/>
          </p:nvPr>
        </p:nvSpPr>
        <p:spPr>
          <a:xfrm>
            <a:off x="468312" y="1205667"/>
            <a:ext cx="8207375" cy="501987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0666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703176" y="2286502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684312" y="1203598"/>
            <a:ext cx="2015506" cy="1080120"/>
          </a:xfrm>
        </p:spPr>
        <p:txBody>
          <a:bodyPr/>
          <a:lstStyle/>
          <a:p>
            <a:endParaRPr lang="uk-UA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684529" y="2427734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2" name="Rectangle 7"/>
          <p:cNvSpPr/>
          <p:nvPr userDrawn="1"/>
        </p:nvSpPr>
        <p:spPr>
          <a:xfrm>
            <a:off x="3563863" y="2283718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3563863" y="1203598"/>
            <a:ext cx="2015506" cy="1080120"/>
          </a:xfrm>
        </p:spPr>
        <p:txBody>
          <a:bodyPr/>
          <a:lstStyle/>
          <a:p>
            <a:endParaRPr lang="uk-UA"/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23" hasCustomPrompt="1"/>
          </p:nvPr>
        </p:nvSpPr>
        <p:spPr>
          <a:xfrm>
            <a:off x="3564080" y="2427734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8" name="Rectangle 7"/>
          <p:cNvSpPr/>
          <p:nvPr userDrawn="1"/>
        </p:nvSpPr>
        <p:spPr>
          <a:xfrm>
            <a:off x="6444927" y="2283718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6444927" y="1203598"/>
            <a:ext cx="2015506" cy="1080120"/>
          </a:xfrm>
        </p:spPr>
        <p:txBody>
          <a:bodyPr/>
          <a:lstStyle/>
          <a:p>
            <a:endParaRPr lang="uk-UA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6445144" y="2427734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</a:p>
        </p:txBody>
      </p:sp>
      <p:sp>
        <p:nvSpPr>
          <p:cNvPr id="31" name="Rectangle 7"/>
          <p:cNvSpPr/>
          <p:nvPr userDrawn="1"/>
        </p:nvSpPr>
        <p:spPr>
          <a:xfrm>
            <a:off x="696007" y="4033005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2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84312" y="2952885"/>
            <a:ext cx="2015506" cy="1080120"/>
          </a:xfrm>
        </p:spPr>
        <p:txBody>
          <a:bodyPr/>
          <a:lstStyle/>
          <a:p>
            <a:endParaRPr lang="uk-UA" dirty="0"/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28" hasCustomPrompt="1"/>
          </p:nvPr>
        </p:nvSpPr>
        <p:spPr>
          <a:xfrm>
            <a:off x="684529" y="4177021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34" name="Rectangle 7"/>
          <p:cNvSpPr/>
          <p:nvPr userDrawn="1"/>
        </p:nvSpPr>
        <p:spPr>
          <a:xfrm>
            <a:off x="3563863" y="4033005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5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3563863" y="2952885"/>
            <a:ext cx="2015506" cy="1080120"/>
          </a:xfrm>
        </p:spPr>
        <p:txBody>
          <a:bodyPr/>
          <a:lstStyle/>
          <a:p>
            <a:endParaRPr lang="uk-UA"/>
          </a:p>
        </p:txBody>
      </p:sp>
      <p:sp>
        <p:nvSpPr>
          <p:cNvPr id="36" name="Text Placehold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3564080" y="4177021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37" name="Rectangle 7"/>
          <p:cNvSpPr/>
          <p:nvPr userDrawn="1"/>
        </p:nvSpPr>
        <p:spPr>
          <a:xfrm>
            <a:off x="6444927" y="4033005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8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6444927" y="2952885"/>
            <a:ext cx="2015506" cy="1080120"/>
          </a:xfrm>
        </p:spPr>
        <p:txBody>
          <a:bodyPr/>
          <a:lstStyle/>
          <a:p>
            <a:endParaRPr lang="uk-UA"/>
          </a:p>
        </p:txBody>
      </p:sp>
      <p:sp>
        <p:nvSpPr>
          <p:cNvPr id="39" name="Text Placeholder 13"/>
          <p:cNvSpPr>
            <a:spLocks noGrp="1"/>
          </p:cNvSpPr>
          <p:nvPr>
            <p:ph type="body" sz="quarter" idx="32" hasCustomPrompt="1"/>
          </p:nvPr>
        </p:nvSpPr>
        <p:spPr>
          <a:xfrm>
            <a:off x="6445144" y="4177021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957036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1" y="1203325"/>
            <a:ext cx="1763688" cy="1368425"/>
          </a:xfrm>
        </p:spPr>
        <p:txBody>
          <a:bodyPr/>
          <a:lstStyle/>
          <a:p>
            <a:endParaRPr lang="uk-UA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5509040" y="1203325"/>
            <a:ext cx="3166648" cy="360313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24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1763688" y="1203325"/>
            <a:ext cx="2016224" cy="1008385"/>
          </a:xfrm>
        </p:spPr>
        <p:txBody>
          <a:bodyPr/>
          <a:lstStyle/>
          <a:p>
            <a:endParaRPr lang="uk-UA"/>
          </a:p>
        </p:txBody>
      </p:sp>
      <p:sp>
        <p:nvSpPr>
          <p:cNvPr id="25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3779912" y="1203325"/>
            <a:ext cx="1364744" cy="1656457"/>
          </a:xfrm>
        </p:spPr>
        <p:txBody>
          <a:bodyPr/>
          <a:lstStyle/>
          <a:p>
            <a:endParaRPr lang="uk-UA"/>
          </a:p>
        </p:txBody>
      </p:sp>
      <p:sp>
        <p:nvSpPr>
          <p:cNvPr id="26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1" y="2571477"/>
            <a:ext cx="1763687" cy="2016398"/>
          </a:xfrm>
        </p:spPr>
        <p:txBody>
          <a:bodyPr/>
          <a:lstStyle/>
          <a:p>
            <a:endParaRPr lang="uk-UA"/>
          </a:p>
        </p:txBody>
      </p:sp>
      <p:sp>
        <p:nvSpPr>
          <p:cNvPr id="28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1763688" y="2211710"/>
            <a:ext cx="2016224" cy="1368152"/>
          </a:xfrm>
        </p:spPr>
        <p:txBody>
          <a:bodyPr/>
          <a:lstStyle/>
          <a:p>
            <a:endParaRPr lang="uk-UA"/>
          </a:p>
        </p:txBody>
      </p:sp>
      <p:sp>
        <p:nvSpPr>
          <p:cNvPr id="29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1763688" y="3579862"/>
            <a:ext cx="2016224" cy="1001337"/>
          </a:xfrm>
        </p:spPr>
        <p:txBody>
          <a:bodyPr/>
          <a:lstStyle/>
          <a:p>
            <a:endParaRPr lang="uk-UA"/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3779912" y="2865148"/>
            <a:ext cx="1364744" cy="1722727"/>
          </a:xfrm>
        </p:spPr>
        <p:txBody>
          <a:bodyPr/>
          <a:lstStyle/>
          <a:p>
            <a:endParaRPr lang="uk-UA"/>
          </a:p>
        </p:txBody>
      </p:sp>
      <p:sp>
        <p:nvSpPr>
          <p:cNvPr id="31" name="Content Placeholder 6"/>
          <p:cNvSpPr>
            <a:spLocks noGrp="1"/>
          </p:cNvSpPr>
          <p:nvPr>
            <p:ph sz="quarter" idx="33"/>
          </p:nvPr>
        </p:nvSpPr>
        <p:spPr>
          <a:xfrm>
            <a:off x="5508104" y="3219822"/>
            <a:ext cx="3167606" cy="136056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8528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500796" y="1257480"/>
            <a:ext cx="266352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3237101" y="1257480"/>
            <a:ext cx="266352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20"/>
          </p:nvPr>
        </p:nvSpPr>
        <p:spPr>
          <a:xfrm>
            <a:off x="5973405" y="1257480"/>
            <a:ext cx="266352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500796" y="2913937"/>
            <a:ext cx="266352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3237101" y="2913937"/>
            <a:ext cx="266352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5973405" y="2913937"/>
            <a:ext cx="2663527" cy="1602029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8497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7545" y="1203599"/>
            <a:ext cx="2016223" cy="1512168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2555777" y="1203598"/>
            <a:ext cx="2016223" cy="2232248"/>
          </a:xfrm>
        </p:spPr>
        <p:txBody>
          <a:bodyPr/>
          <a:lstStyle/>
          <a:p>
            <a:endParaRPr lang="uk-UA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20"/>
          </p:nvPr>
        </p:nvSpPr>
        <p:spPr>
          <a:xfrm>
            <a:off x="4644009" y="1203599"/>
            <a:ext cx="2016223" cy="1080120"/>
          </a:xfrm>
        </p:spPr>
        <p:txBody>
          <a:bodyPr/>
          <a:lstStyle/>
          <a:p>
            <a:endParaRPr lang="uk-UA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6732241" y="1203598"/>
            <a:ext cx="194344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21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467545" y="2787773"/>
            <a:ext cx="2016223" cy="1800101"/>
          </a:xfrm>
        </p:spPr>
        <p:txBody>
          <a:bodyPr/>
          <a:lstStyle/>
          <a:p>
            <a:endParaRPr lang="uk-UA"/>
          </a:p>
        </p:txBody>
      </p:sp>
      <p:sp>
        <p:nvSpPr>
          <p:cNvPr id="22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2555777" y="3507853"/>
            <a:ext cx="2016223" cy="1080022"/>
          </a:xfrm>
        </p:spPr>
        <p:txBody>
          <a:bodyPr/>
          <a:lstStyle/>
          <a:p>
            <a:endParaRPr lang="uk-UA"/>
          </a:p>
        </p:txBody>
      </p:sp>
      <p:sp>
        <p:nvSpPr>
          <p:cNvPr id="23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4644009" y="2368165"/>
            <a:ext cx="2016223" cy="2219710"/>
          </a:xfrm>
        </p:spPr>
        <p:txBody>
          <a:bodyPr/>
          <a:lstStyle/>
          <a:p>
            <a:endParaRPr lang="uk-UA"/>
          </a:p>
        </p:txBody>
      </p:sp>
      <p:sp>
        <p:nvSpPr>
          <p:cNvPr id="24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6732241" y="2868496"/>
            <a:ext cx="1943447" cy="1719379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0758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7544" y="1203598"/>
            <a:ext cx="3960440" cy="2520280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4715248" y="1203598"/>
            <a:ext cx="3960440" cy="2520280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5591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3" y="1203325"/>
            <a:ext cx="3743647" cy="3384550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34037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2" y="1203325"/>
            <a:ext cx="4679752" cy="3240633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Rectangle 7"/>
          <p:cNvSpPr/>
          <p:nvPr userDrawn="1"/>
        </p:nvSpPr>
        <p:spPr>
          <a:xfrm>
            <a:off x="468312" y="4443958"/>
            <a:ext cx="4679751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Content Placeholder 6"/>
          <p:cNvSpPr>
            <a:spLocks noGrp="1"/>
          </p:cNvSpPr>
          <p:nvPr>
            <p:ph sz="quarter" idx="19"/>
          </p:nvPr>
        </p:nvSpPr>
        <p:spPr>
          <a:xfrm>
            <a:off x="5508624" y="1707158"/>
            <a:ext cx="3167063" cy="288081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5508804" y="1203598"/>
            <a:ext cx="3166884" cy="3587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618579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2" y="1203325"/>
            <a:ext cx="3383608" cy="3240534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Rectangle 7"/>
          <p:cNvSpPr/>
          <p:nvPr userDrawn="1"/>
        </p:nvSpPr>
        <p:spPr>
          <a:xfrm>
            <a:off x="468312" y="4443859"/>
            <a:ext cx="3383607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Content Placeholder 6"/>
          <p:cNvSpPr>
            <a:spLocks noGrp="1"/>
          </p:cNvSpPr>
          <p:nvPr>
            <p:ph sz="quarter" idx="19"/>
          </p:nvPr>
        </p:nvSpPr>
        <p:spPr>
          <a:xfrm>
            <a:off x="4211960" y="1707158"/>
            <a:ext cx="4463728" cy="136864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212140" y="1203598"/>
            <a:ext cx="4463476" cy="3587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2" name="Content Placeholder 6"/>
          <p:cNvSpPr>
            <a:spLocks noGrp="1"/>
          </p:cNvSpPr>
          <p:nvPr>
            <p:ph sz="quarter" idx="21"/>
          </p:nvPr>
        </p:nvSpPr>
        <p:spPr>
          <a:xfrm>
            <a:off x="4067944" y="3219822"/>
            <a:ext cx="1511261" cy="1368152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ontent Placeholder 6"/>
          <p:cNvSpPr>
            <a:spLocks noGrp="1"/>
          </p:cNvSpPr>
          <p:nvPr>
            <p:ph sz="quarter" idx="22"/>
          </p:nvPr>
        </p:nvSpPr>
        <p:spPr>
          <a:xfrm>
            <a:off x="5651213" y="3219822"/>
            <a:ext cx="1511261" cy="1368152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" name="Content Placeholder 6"/>
          <p:cNvSpPr>
            <a:spLocks noGrp="1"/>
          </p:cNvSpPr>
          <p:nvPr>
            <p:ph sz="quarter" idx="23"/>
          </p:nvPr>
        </p:nvSpPr>
        <p:spPr>
          <a:xfrm>
            <a:off x="7207137" y="3219822"/>
            <a:ext cx="1511261" cy="1368152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41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/>
      <p:bldP spid="16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uk-U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b="1" dirty="0" err="1" smtClean="0">
                <a:solidFill>
                  <a:schemeClr val="accent3"/>
                </a:solidFill>
              </a:rPr>
              <a:t>COMPANY</a:t>
            </a:r>
            <a:r>
              <a:rPr lang="en-US" dirty="0" err="1" smtClean="0"/>
              <a:t>name</a:t>
            </a:r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www.company.com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9770" y="4767263"/>
            <a:ext cx="37873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0" y="195487"/>
            <a:ext cx="9143999" cy="623379"/>
            <a:chOff x="-4361971" y="195486"/>
            <a:chExt cx="13505971" cy="920750"/>
          </a:xfrm>
          <a:effectLst>
            <a:outerShdw blurRad="25400" dist="12700" dir="54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/>
            <p:cNvSpPr/>
            <p:nvPr userDrawn="1"/>
          </p:nvSpPr>
          <p:spPr>
            <a:xfrm>
              <a:off x="-4361971" y="195486"/>
              <a:ext cx="13505971" cy="92075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  <a:alpha val="60000"/>
                  </a:schemeClr>
                </a:gs>
                <a:gs pos="100000">
                  <a:schemeClr val="bg1">
                    <a:lumMod val="65000"/>
                    <a:alpha val="5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Freeform 58"/>
            <p:cNvSpPr>
              <a:spLocks/>
            </p:cNvSpPr>
            <p:nvPr userDrawn="1"/>
          </p:nvSpPr>
          <p:spPr bwMode="auto">
            <a:xfrm>
              <a:off x="7580312" y="195486"/>
              <a:ext cx="1563688" cy="920750"/>
            </a:xfrm>
            <a:custGeom>
              <a:avLst/>
              <a:gdLst>
                <a:gd name="T0" fmla="*/ 32 w 416"/>
                <a:gd name="T1" fmla="*/ 0 h 242"/>
                <a:gd name="T2" fmla="*/ 0 w 416"/>
                <a:gd name="T3" fmla="*/ 138 h 242"/>
                <a:gd name="T4" fmla="*/ 18 w 416"/>
                <a:gd name="T5" fmla="*/ 242 h 242"/>
                <a:gd name="T6" fmla="*/ 416 w 416"/>
                <a:gd name="T7" fmla="*/ 242 h 242"/>
                <a:gd name="T8" fmla="*/ 416 w 416"/>
                <a:gd name="T9" fmla="*/ 0 h 242"/>
                <a:gd name="T10" fmla="*/ 32 w 416"/>
                <a:gd name="T11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6" h="242">
                  <a:moveTo>
                    <a:pt x="32" y="0"/>
                  </a:moveTo>
                  <a:cubicBezTo>
                    <a:pt x="11" y="41"/>
                    <a:pt x="0" y="88"/>
                    <a:pt x="0" y="138"/>
                  </a:cubicBezTo>
                  <a:cubicBezTo>
                    <a:pt x="0" y="174"/>
                    <a:pt x="6" y="209"/>
                    <a:pt x="18" y="242"/>
                  </a:cubicBezTo>
                  <a:cubicBezTo>
                    <a:pt x="416" y="242"/>
                    <a:pt x="416" y="242"/>
                    <a:pt x="416" y="242"/>
                  </a:cubicBezTo>
                  <a:cubicBezTo>
                    <a:pt x="416" y="0"/>
                    <a:pt x="416" y="0"/>
                    <a:pt x="416" y="0"/>
                  </a:cubicBezTo>
                  <a:lnTo>
                    <a:pt x="32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6000"/>
                  </a:srgbClr>
                </a:gs>
                <a:gs pos="100000">
                  <a:srgbClr val="B2B2B2">
                    <a:alpha val="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" name="Freeform 59"/>
            <p:cNvSpPr>
              <a:spLocks/>
            </p:cNvSpPr>
            <p:nvPr userDrawn="1"/>
          </p:nvSpPr>
          <p:spPr bwMode="auto">
            <a:xfrm>
              <a:off x="7445374" y="195486"/>
              <a:ext cx="179388" cy="920750"/>
            </a:xfrm>
            <a:custGeom>
              <a:avLst/>
              <a:gdLst>
                <a:gd name="T0" fmla="*/ 48 w 48"/>
                <a:gd name="T1" fmla="*/ 0 h 242"/>
                <a:gd name="T2" fmla="*/ 28 w 48"/>
                <a:gd name="T3" fmla="*/ 0 h 242"/>
                <a:gd name="T4" fmla="*/ 0 w 48"/>
                <a:gd name="T5" fmla="*/ 138 h 242"/>
                <a:gd name="T6" fmla="*/ 16 w 48"/>
                <a:gd name="T7" fmla="*/ 242 h 242"/>
                <a:gd name="T8" fmla="*/ 34 w 48"/>
                <a:gd name="T9" fmla="*/ 242 h 242"/>
                <a:gd name="T10" fmla="*/ 18 w 48"/>
                <a:gd name="T11" fmla="*/ 138 h 242"/>
                <a:gd name="T12" fmla="*/ 48 w 48"/>
                <a:gd name="T1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42">
                  <a:moveTo>
                    <a:pt x="4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0" y="42"/>
                    <a:pt x="0" y="89"/>
                    <a:pt x="0" y="138"/>
                  </a:cubicBezTo>
                  <a:cubicBezTo>
                    <a:pt x="0" y="174"/>
                    <a:pt x="5" y="209"/>
                    <a:pt x="16" y="242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24" y="209"/>
                    <a:pt x="18" y="174"/>
                    <a:pt x="18" y="138"/>
                  </a:cubicBezTo>
                  <a:cubicBezTo>
                    <a:pt x="18" y="88"/>
                    <a:pt x="28" y="42"/>
                    <a:pt x="48" y="0"/>
                  </a:cubicBezTo>
                  <a:close/>
                </a:path>
              </a:pathLst>
            </a:custGeom>
            <a:solidFill>
              <a:srgbClr val="FFFFFF">
                <a:alpha val="6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" name="Freeform 60"/>
            <p:cNvSpPr>
              <a:spLocks/>
            </p:cNvSpPr>
            <p:nvPr userDrawn="1"/>
          </p:nvSpPr>
          <p:spPr bwMode="auto">
            <a:xfrm>
              <a:off x="5241924" y="328836"/>
              <a:ext cx="1973263" cy="787400"/>
            </a:xfrm>
            <a:custGeom>
              <a:avLst/>
              <a:gdLst>
                <a:gd name="T0" fmla="*/ 262 w 525"/>
                <a:gd name="T1" fmla="*/ 0 h 207"/>
                <a:gd name="T2" fmla="*/ 0 w 525"/>
                <a:gd name="T3" fmla="*/ 207 h 207"/>
                <a:gd name="T4" fmla="*/ 525 w 525"/>
                <a:gd name="T5" fmla="*/ 207 h 207"/>
                <a:gd name="T6" fmla="*/ 262 w 525"/>
                <a:gd name="T7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5" h="207">
                  <a:moveTo>
                    <a:pt x="262" y="0"/>
                  </a:moveTo>
                  <a:cubicBezTo>
                    <a:pt x="135" y="0"/>
                    <a:pt x="28" y="88"/>
                    <a:pt x="0" y="207"/>
                  </a:cubicBezTo>
                  <a:cubicBezTo>
                    <a:pt x="525" y="207"/>
                    <a:pt x="525" y="207"/>
                    <a:pt x="525" y="207"/>
                  </a:cubicBezTo>
                  <a:cubicBezTo>
                    <a:pt x="496" y="88"/>
                    <a:pt x="389" y="0"/>
                    <a:pt x="26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" name="Freeform 61"/>
            <p:cNvSpPr>
              <a:spLocks/>
            </p:cNvSpPr>
            <p:nvPr userDrawn="1"/>
          </p:nvSpPr>
          <p:spPr bwMode="auto">
            <a:xfrm>
              <a:off x="5102224" y="195486"/>
              <a:ext cx="2249488" cy="920750"/>
            </a:xfrm>
            <a:custGeom>
              <a:avLst/>
              <a:gdLst>
                <a:gd name="T0" fmla="*/ 322 w 598"/>
                <a:gd name="T1" fmla="*/ 0 h 242"/>
                <a:gd name="T2" fmla="*/ 276 w 598"/>
                <a:gd name="T3" fmla="*/ 0 h 242"/>
                <a:gd name="T4" fmla="*/ 0 w 598"/>
                <a:gd name="T5" fmla="*/ 242 h 242"/>
                <a:gd name="T6" fmla="*/ 18 w 598"/>
                <a:gd name="T7" fmla="*/ 242 h 242"/>
                <a:gd name="T8" fmla="*/ 299 w 598"/>
                <a:gd name="T9" fmla="*/ 17 h 242"/>
                <a:gd name="T10" fmla="*/ 580 w 598"/>
                <a:gd name="T11" fmla="*/ 242 h 242"/>
                <a:gd name="T12" fmla="*/ 598 w 598"/>
                <a:gd name="T13" fmla="*/ 242 h 242"/>
                <a:gd name="T14" fmla="*/ 322 w 598"/>
                <a:gd name="T15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8" h="242">
                  <a:moveTo>
                    <a:pt x="322" y="0"/>
                  </a:moveTo>
                  <a:cubicBezTo>
                    <a:pt x="276" y="0"/>
                    <a:pt x="276" y="0"/>
                    <a:pt x="276" y="0"/>
                  </a:cubicBezTo>
                  <a:cubicBezTo>
                    <a:pt x="140" y="10"/>
                    <a:pt x="28" y="110"/>
                    <a:pt x="0" y="242"/>
                  </a:cubicBezTo>
                  <a:cubicBezTo>
                    <a:pt x="18" y="242"/>
                    <a:pt x="18" y="242"/>
                    <a:pt x="18" y="242"/>
                  </a:cubicBezTo>
                  <a:cubicBezTo>
                    <a:pt x="47" y="113"/>
                    <a:pt x="162" y="17"/>
                    <a:pt x="299" y="17"/>
                  </a:cubicBezTo>
                  <a:cubicBezTo>
                    <a:pt x="437" y="17"/>
                    <a:pt x="551" y="113"/>
                    <a:pt x="580" y="242"/>
                  </a:cubicBezTo>
                  <a:cubicBezTo>
                    <a:pt x="598" y="242"/>
                    <a:pt x="598" y="242"/>
                    <a:pt x="598" y="242"/>
                  </a:cubicBezTo>
                  <a:cubicBezTo>
                    <a:pt x="571" y="110"/>
                    <a:pt x="459" y="10"/>
                    <a:pt x="322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" name="Freeform 62"/>
            <p:cNvSpPr>
              <a:spLocks/>
            </p:cNvSpPr>
            <p:nvPr userDrawn="1"/>
          </p:nvSpPr>
          <p:spPr bwMode="auto">
            <a:xfrm>
              <a:off x="8151812" y="195486"/>
              <a:ext cx="752475" cy="503238"/>
            </a:xfrm>
            <a:custGeom>
              <a:avLst/>
              <a:gdLst>
                <a:gd name="T0" fmla="*/ 100 w 200"/>
                <a:gd name="T1" fmla="*/ 132 h 132"/>
                <a:gd name="T2" fmla="*/ 200 w 200"/>
                <a:gd name="T3" fmla="*/ 31 h 132"/>
                <a:gd name="T4" fmla="*/ 195 w 200"/>
                <a:gd name="T5" fmla="*/ 0 h 132"/>
                <a:gd name="T6" fmla="*/ 5 w 200"/>
                <a:gd name="T7" fmla="*/ 0 h 132"/>
                <a:gd name="T8" fmla="*/ 0 w 200"/>
                <a:gd name="T9" fmla="*/ 31 h 132"/>
                <a:gd name="T10" fmla="*/ 100 w 200"/>
                <a:gd name="T11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" h="132">
                  <a:moveTo>
                    <a:pt x="100" y="132"/>
                  </a:moveTo>
                  <a:cubicBezTo>
                    <a:pt x="155" y="132"/>
                    <a:pt x="200" y="87"/>
                    <a:pt x="200" y="31"/>
                  </a:cubicBezTo>
                  <a:cubicBezTo>
                    <a:pt x="200" y="20"/>
                    <a:pt x="199" y="10"/>
                    <a:pt x="19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10"/>
                    <a:pt x="0" y="20"/>
                    <a:pt x="0" y="31"/>
                  </a:cubicBezTo>
                  <a:cubicBezTo>
                    <a:pt x="0" y="87"/>
                    <a:pt x="45" y="132"/>
                    <a:pt x="100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" name="Freeform 63"/>
            <p:cNvSpPr>
              <a:spLocks/>
            </p:cNvSpPr>
            <p:nvPr userDrawn="1"/>
          </p:nvSpPr>
          <p:spPr bwMode="auto">
            <a:xfrm>
              <a:off x="8107362" y="195486"/>
              <a:ext cx="841375" cy="547688"/>
            </a:xfrm>
            <a:custGeom>
              <a:avLst/>
              <a:gdLst>
                <a:gd name="T0" fmla="*/ 220 w 224"/>
                <a:gd name="T1" fmla="*/ 0 h 144"/>
                <a:gd name="T2" fmla="*/ 214 w 224"/>
                <a:gd name="T3" fmla="*/ 0 h 144"/>
                <a:gd name="T4" fmla="*/ 218 w 224"/>
                <a:gd name="T5" fmla="*/ 31 h 144"/>
                <a:gd name="T6" fmla="*/ 112 w 224"/>
                <a:gd name="T7" fmla="*/ 138 h 144"/>
                <a:gd name="T8" fmla="*/ 6 w 224"/>
                <a:gd name="T9" fmla="*/ 31 h 144"/>
                <a:gd name="T10" fmla="*/ 11 w 224"/>
                <a:gd name="T11" fmla="*/ 0 h 144"/>
                <a:gd name="T12" fmla="*/ 5 w 224"/>
                <a:gd name="T13" fmla="*/ 0 h 144"/>
                <a:gd name="T14" fmla="*/ 0 w 224"/>
                <a:gd name="T15" fmla="*/ 31 h 144"/>
                <a:gd name="T16" fmla="*/ 112 w 224"/>
                <a:gd name="T17" fmla="*/ 144 h 144"/>
                <a:gd name="T18" fmla="*/ 224 w 224"/>
                <a:gd name="T19" fmla="*/ 31 h 144"/>
                <a:gd name="T20" fmla="*/ 220 w 224"/>
                <a:gd name="T2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144">
                  <a:moveTo>
                    <a:pt x="220" y="0"/>
                  </a:moveTo>
                  <a:cubicBezTo>
                    <a:pt x="214" y="0"/>
                    <a:pt x="214" y="0"/>
                    <a:pt x="214" y="0"/>
                  </a:cubicBezTo>
                  <a:cubicBezTo>
                    <a:pt x="217" y="10"/>
                    <a:pt x="218" y="20"/>
                    <a:pt x="218" y="31"/>
                  </a:cubicBezTo>
                  <a:cubicBezTo>
                    <a:pt x="218" y="90"/>
                    <a:pt x="171" y="138"/>
                    <a:pt x="112" y="138"/>
                  </a:cubicBezTo>
                  <a:cubicBezTo>
                    <a:pt x="54" y="138"/>
                    <a:pt x="6" y="90"/>
                    <a:pt x="6" y="31"/>
                  </a:cubicBezTo>
                  <a:cubicBezTo>
                    <a:pt x="6" y="20"/>
                    <a:pt x="8" y="10"/>
                    <a:pt x="11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10"/>
                    <a:pt x="0" y="20"/>
                    <a:pt x="0" y="31"/>
                  </a:cubicBezTo>
                  <a:cubicBezTo>
                    <a:pt x="0" y="93"/>
                    <a:pt x="50" y="144"/>
                    <a:pt x="112" y="144"/>
                  </a:cubicBezTo>
                  <a:cubicBezTo>
                    <a:pt x="174" y="144"/>
                    <a:pt x="224" y="93"/>
                    <a:pt x="224" y="31"/>
                  </a:cubicBezTo>
                  <a:cubicBezTo>
                    <a:pt x="224" y="20"/>
                    <a:pt x="223" y="10"/>
                    <a:pt x="22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" name="Freeform 64"/>
            <p:cNvSpPr>
              <a:spLocks/>
            </p:cNvSpPr>
            <p:nvPr userDrawn="1"/>
          </p:nvSpPr>
          <p:spPr bwMode="auto">
            <a:xfrm>
              <a:off x="8855074" y="195486"/>
              <a:ext cx="288925" cy="182563"/>
            </a:xfrm>
            <a:custGeom>
              <a:avLst/>
              <a:gdLst>
                <a:gd name="T0" fmla="*/ 0 w 77"/>
                <a:gd name="T1" fmla="*/ 0 h 48"/>
                <a:gd name="T2" fmla="*/ 0 w 77"/>
                <a:gd name="T3" fmla="*/ 1 h 48"/>
                <a:gd name="T4" fmla="*/ 48 w 77"/>
                <a:gd name="T5" fmla="*/ 48 h 48"/>
                <a:gd name="T6" fmla="*/ 77 w 77"/>
                <a:gd name="T7" fmla="*/ 38 h 48"/>
                <a:gd name="T8" fmla="*/ 77 w 77"/>
                <a:gd name="T9" fmla="*/ 0 h 48"/>
                <a:gd name="T10" fmla="*/ 0 w 77"/>
                <a:gd name="T1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48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7"/>
                    <a:pt x="21" y="48"/>
                    <a:pt x="48" y="48"/>
                  </a:cubicBezTo>
                  <a:cubicBezTo>
                    <a:pt x="59" y="48"/>
                    <a:pt x="69" y="44"/>
                    <a:pt x="77" y="38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" name="Freeform 65"/>
            <p:cNvSpPr>
              <a:spLocks/>
            </p:cNvSpPr>
            <p:nvPr userDrawn="1"/>
          </p:nvSpPr>
          <p:spPr bwMode="auto">
            <a:xfrm>
              <a:off x="8810624" y="195486"/>
              <a:ext cx="333375" cy="228600"/>
            </a:xfrm>
            <a:custGeom>
              <a:avLst/>
              <a:gdLst>
                <a:gd name="T0" fmla="*/ 6 w 89"/>
                <a:gd name="T1" fmla="*/ 1 h 60"/>
                <a:gd name="T2" fmla="*/ 6 w 89"/>
                <a:gd name="T3" fmla="*/ 0 h 60"/>
                <a:gd name="T4" fmla="*/ 0 w 89"/>
                <a:gd name="T5" fmla="*/ 0 h 60"/>
                <a:gd name="T6" fmla="*/ 0 w 89"/>
                <a:gd name="T7" fmla="*/ 1 h 60"/>
                <a:gd name="T8" fmla="*/ 60 w 89"/>
                <a:gd name="T9" fmla="*/ 60 h 60"/>
                <a:gd name="T10" fmla="*/ 89 w 89"/>
                <a:gd name="T11" fmla="*/ 52 h 60"/>
                <a:gd name="T12" fmla="*/ 89 w 89"/>
                <a:gd name="T13" fmla="*/ 45 h 60"/>
                <a:gd name="T14" fmla="*/ 60 w 89"/>
                <a:gd name="T15" fmla="*/ 54 h 60"/>
                <a:gd name="T16" fmla="*/ 6 w 89"/>
                <a:gd name="T17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60">
                  <a:moveTo>
                    <a:pt x="6" y="1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33"/>
                    <a:pt x="27" y="60"/>
                    <a:pt x="60" y="60"/>
                  </a:cubicBezTo>
                  <a:cubicBezTo>
                    <a:pt x="70" y="60"/>
                    <a:pt x="80" y="57"/>
                    <a:pt x="89" y="52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1" y="51"/>
                    <a:pt x="71" y="54"/>
                    <a:pt x="60" y="54"/>
                  </a:cubicBezTo>
                  <a:cubicBezTo>
                    <a:pt x="30" y="54"/>
                    <a:pt x="6" y="30"/>
                    <a:pt x="6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" name="Oval 66"/>
            <p:cNvSpPr>
              <a:spLocks noChangeArrowheads="1"/>
            </p:cNvSpPr>
            <p:nvPr userDrawn="1"/>
          </p:nvSpPr>
          <p:spPr bwMode="auto">
            <a:xfrm>
              <a:off x="6850062" y="435199"/>
              <a:ext cx="136525" cy="13335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" name="Freeform 67"/>
            <p:cNvSpPr>
              <a:spLocks noEditPoints="1"/>
            </p:cNvSpPr>
            <p:nvPr userDrawn="1"/>
          </p:nvSpPr>
          <p:spPr bwMode="auto">
            <a:xfrm>
              <a:off x="6827837" y="412974"/>
              <a:ext cx="177800" cy="177800"/>
            </a:xfrm>
            <a:custGeom>
              <a:avLst/>
              <a:gdLst>
                <a:gd name="T0" fmla="*/ 24 w 47"/>
                <a:gd name="T1" fmla="*/ 47 h 47"/>
                <a:gd name="T2" fmla="*/ 0 w 47"/>
                <a:gd name="T3" fmla="*/ 24 h 47"/>
                <a:gd name="T4" fmla="*/ 24 w 47"/>
                <a:gd name="T5" fmla="*/ 0 h 47"/>
                <a:gd name="T6" fmla="*/ 47 w 47"/>
                <a:gd name="T7" fmla="*/ 24 h 47"/>
                <a:gd name="T8" fmla="*/ 24 w 47"/>
                <a:gd name="T9" fmla="*/ 47 h 47"/>
                <a:gd name="T10" fmla="*/ 24 w 47"/>
                <a:gd name="T11" fmla="*/ 4 h 47"/>
                <a:gd name="T12" fmla="*/ 4 w 47"/>
                <a:gd name="T13" fmla="*/ 24 h 47"/>
                <a:gd name="T14" fmla="*/ 24 w 47"/>
                <a:gd name="T15" fmla="*/ 43 h 47"/>
                <a:gd name="T16" fmla="*/ 43 w 47"/>
                <a:gd name="T17" fmla="*/ 24 h 47"/>
                <a:gd name="T18" fmla="*/ 24 w 47"/>
                <a:gd name="T19" fmla="*/ 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47">
                  <a:moveTo>
                    <a:pt x="24" y="47"/>
                  </a:moveTo>
                  <a:cubicBezTo>
                    <a:pt x="11" y="47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7" y="11"/>
                    <a:pt x="47" y="24"/>
                  </a:cubicBezTo>
                  <a:cubicBezTo>
                    <a:pt x="47" y="37"/>
                    <a:pt x="37" y="47"/>
                    <a:pt x="24" y="47"/>
                  </a:cubicBezTo>
                  <a:close/>
                  <a:moveTo>
                    <a:pt x="24" y="4"/>
                  </a:moveTo>
                  <a:cubicBezTo>
                    <a:pt x="13" y="4"/>
                    <a:pt x="4" y="13"/>
                    <a:pt x="4" y="24"/>
                  </a:cubicBezTo>
                  <a:cubicBezTo>
                    <a:pt x="4" y="34"/>
                    <a:pt x="13" y="43"/>
                    <a:pt x="24" y="43"/>
                  </a:cubicBezTo>
                  <a:cubicBezTo>
                    <a:pt x="35" y="43"/>
                    <a:pt x="43" y="34"/>
                    <a:pt x="43" y="24"/>
                  </a:cubicBezTo>
                  <a:cubicBezTo>
                    <a:pt x="43" y="13"/>
                    <a:pt x="35" y="4"/>
                    <a:pt x="24" y="4"/>
                  </a:cubicBezTo>
                  <a:close/>
                </a:path>
              </a:pathLst>
            </a:custGeom>
            <a:solidFill>
              <a:srgbClr val="B2B2B2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4474840" cy="6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8769949" y="4749443"/>
            <a:ext cx="315357" cy="315357"/>
            <a:chOff x="7728278" y="1620599"/>
            <a:chExt cx="120377" cy="120377"/>
          </a:xfrm>
        </p:grpSpPr>
        <p:sp>
          <p:nvSpPr>
            <p:cNvPr id="19" name="Oval 66"/>
            <p:cNvSpPr>
              <a:spLocks noChangeArrowheads="1"/>
            </p:cNvSpPr>
            <p:nvPr userDrawn="1"/>
          </p:nvSpPr>
          <p:spPr bwMode="auto">
            <a:xfrm>
              <a:off x="7743325" y="1635646"/>
              <a:ext cx="92432" cy="90282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" name="Freeform 67"/>
            <p:cNvSpPr>
              <a:spLocks noEditPoints="1"/>
            </p:cNvSpPr>
            <p:nvPr userDrawn="1"/>
          </p:nvSpPr>
          <p:spPr bwMode="auto">
            <a:xfrm>
              <a:off x="7728278" y="1620599"/>
              <a:ext cx="120377" cy="120377"/>
            </a:xfrm>
            <a:custGeom>
              <a:avLst/>
              <a:gdLst>
                <a:gd name="T0" fmla="*/ 24 w 47"/>
                <a:gd name="T1" fmla="*/ 47 h 47"/>
                <a:gd name="T2" fmla="*/ 0 w 47"/>
                <a:gd name="T3" fmla="*/ 24 h 47"/>
                <a:gd name="T4" fmla="*/ 24 w 47"/>
                <a:gd name="T5" fmla="*/ 0 h 47"/>
                <a:gd name="T6" fmla="*/ 47 w 47"/>
                <a:gd name="T7" fmla="*/ 24 h 47"/>
                <a:gd name="T8" fmla="*/ 24 w 47"/>
                <a:gd name="T9" fmla="*/ 47 h 47"/>
                <a:gd name="T10" fmla="*/ 24 w 47"/>
                <a:gd name="T11" fmla="*/ 4 h 47"/>
                <a:gd name="T12" fmla="*/ 4 w 47"/>
                <a:gd name="T13" fmla="*/ 24 h 47"/>
                <a:gd name="T14" fmla="*/ 24 w 47"/>
                <a:gd name="T15" fmla="*/ 43 h 47"/>
                <a:gd name="T16" fmla="*/ 43 w 47"/>
                <a:gd name="T17" fmla="*/ 24 h 47"/>
                <a:gd name="T18" fmla="*/ 24 w 47"/>
                <a:gd name="T19" fmla="*/ 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47">
                  <a:moveTo>
                    <a:pt x="24" y="47"/>
                  </a:moveTo>
                  <a:cubicBezTo>
                    <a:pt x="11" y="47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7" y="11"/>
                    <a:pt x="47" y="24"/>
                  </a:cubicBezTo>
                  <a:cubicBezTo>
                    <a:pt x="47" y="37"/>
                    <a:pt x="37" y="47"/>
                    <a:pt x="24" y="47"/>
                  </a:cubicBezTo>
                  <a:close/>
                  <a:moveTo>
                    <a:pt x="24" y="4"/>
                  </a:moveTo>
                  <a:cubicBezTo>
                    <a:pt x="13" y="4"/>
                    <a:pt x="4" y="13"/>
                    <a:pt x="4" y="24"/>
                  </a:cubicBezTo>
                  <a:cubicBezTo>
                    <a:pt x="4" y="34"/>
                    <a:pt x="13" y="43"/>
                    <a:pt x="24" y="43"/>
                  </a:cubicBezTo>
                  <a:cubicBezTo>
                    <a:pt x="35" y="43"/>
                    <a:pt x="43" y="34"/>
                    <a:pt x="43" y="24"/>
                  </a:cubicBezTo>
                  <a:cubicBezTo>
                    <a:pt x="43" y="13"/>
                    <a:pt x="35" y="4"/>
                    <a:pt x="24" y="4"/>
                  </a:cubicBezTo>
                  <a:close/>
                </a:path>
              </a:pathLst>
            </a:custGeom>
            <a:solidFill>
              <a:srgbClr val="B2B2B2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</p:spTree>
    <p:extLst>
      <p:ext uri="{BB962C8B-B14F-4D97-AF65-F5344CB8AC3E}">
        <p14:creationId xmlns:p14="http://schemas.microsoft.com/office/powerpoint/2010/main" val="7952640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8" r:id="rId4"/>
    <p:sldLayoutId id="2147483671" r:id="rId5"/>
    <p:sldLayoutId id="2147483669" r:id="rId6"/>
    <p:sldLayoutId id="2147483670" r:id="rId7"/>
    <p:sldLayoutId id="2147483651" r:id="rId8"/>
    <p:sldLayoutId id="2147483652" r:id="rId9"/>
    <p:sldLayoutId id="2147483662" r:id="rId10"/>
    <p:sldLayoutId id="2147483653" r:id="rId11"/>
    <p:sldLayoutId id="2147483654" r:id="rId12"/>
    <p:sldLayoutId id="2147483667" r:id="rId13"/>
    <p:sldLayoutId id="2147483661" r:id="rId14"/>
    <p:sldLayoutId id="2147483660" r:id="rId15"/>
    <p:sldLayoutId id="2147483656" r:id="rId16"/>
    <p:sldLayoutId id="2147483659" r:id="rId17"/>
    <p:sldLayoutId id="2147483663" r:id="rId18"/>
    <p:sldLayoutId id="2147483664" r:id="rId19"/>
    <p:sldLayoutId id="2147483666" r:id="rId20"/>
    <p:sldLayoutId id="2147483657" r:id="rId21"/>
    <p:sldLayoutId id="2147483658" r:id="rId2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getbem.com/naming/" TargetMode="External"/><Relationship Id="rId4" Type="http://schemas.openxmlformats.org/officeDocument/2006/relationships/hyperlink" Target="https://twitter.com/paulmsmith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angular.io/api/core/Directive#host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19256" cy="61288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BEM &amp; SMACSS</a:t>
            </a:r>
            <a:r>
              <a:rPr lang="en-US" b="1" dirty="0"/>
              <a:t> </a:t>
            </a:r>
          </a:p>
        </p:txBody>
      </p:sp>
      <p:sp>
        <p:nvSpPr>
          <p:cNvPr id="38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1</a:t>
            </a:fld>
            <a:endParaRPr lang="uk-UA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" b="-169"/>
          <a:stretch/>
        </p:blipFill>
        <p:spPr>
          <a:xfrm>
            <a:off x="1187624" y="1059582"/>
            <a:ext cx="2879551" cy="2889250"/>
          </a:xfrm>
        </p:spPr>
      </p:pic>
      <p:sp>
        <p:nvSpPr>
          <p:cNvPr id="4" name="Rectangle 3"/>
          <p:cNvSpPr/>
          <p:nvPr/>
        </p:nvSpPr>
        <p:spPr>
          <a:xfrm>
            <a:off x="4404196" y="141962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“SMACSS is becoming one of the most useful contributions to front-end discussions in years</a:t>
            </a:r>
            <a:r>
              <a:rPr lang="en-US" b="1" dirty="0" smtClean="0"/>
              <a:t>” - </a:t>
            </a:r>
            <a:r>
              <a:rPr lang="en-US" b="1" dirty="0">
                <a:hlinkClick r:id="rId4"/>
              </a:rPr>
              <a:t>Paul </a:t>
            </a:r>
            <a:r>
              <a:rPr lang="en-US" b="1" dirty="0" smtClean="0">
                <a:hlinkClick r:id="rId4"/>
              </a:rPr>
              <a:t>Smith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4386932" y="2643758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5"/>
              </a:rPr>
              <a:t>BEM</a:t>
            </a:r>
            <a:r>
              <a:rPr lang="en-US" dirty="0"/>
              <a:t> (Block Element Modifier) is a popular CSS class naming convention that makes CSS easier to maintain. This article assumes that you are already familiar with the naming convention.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393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2</a:t>
            </a:fld>
            <a:endParaRPr lang="uk-UA"/>
          </a:p>
        </p:txBody>
      </p:sp>
      <p:sp>
        <p:nvSpPr>
          <p:cNvPr id="27" name="Rectangle 26"/>
          <p:cNvSpPr/>
          <p:nvPr/>
        </p:nvSpPr>
        <p:spPr>
          <a:xfrm>
            <a:off x="504309" y="1491630"/>
            <a:ext cx="712809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SMACSS (pronounced “smacks”) is more style guide than rigid</a:t>
            </a:r>
          </a:p>
          <a:p>
            <a:r>
              <a:rPr lang="en-US" sz="1000" dirty="0"/>
              <a:t>framework. There is no library within here for you to download or</a:t>
            </a:r>
          </a:p>
          <a:p>
            <a:r>
              <a:rPr lang="en-US" sz="1000" dirty="0"/>
              <a:t>install. SMACSS is a way to examine your design process and as a</a:t>
            </a:r>
          </a:p>
          <a:p>
            <a:r>
              <a:rPr lang="en-US" sz="1000" dirty="0"/>
              <a:t>way to fit those rigid frameworks into a flexible thought process. It</a:t>
            </a:r>
          </a:p>
          <a:p>
            <a:r>
              <a:rPr lang="en-US" sz="1000" dirty="0"/>
              <a:t>is an attempt to document a consistent approach to site development</a:t>
            </a:r>
          </a:p>
          <a:p>
            <a:r>
              <a:rPr lang="en-US" sz="1000" dirty="0"/>
              <a:t>when using CSS. And really, who isn’t building a site with CSS</a:t>
            </a:r>
          </a:p>
          <a:p>
            <a:r>
              <a:rPr lang="en-US" sz="1000" dirty="0"/>
              <a:t>these days?! Feel free to take this in its entirety or use only the</a:t>
            </a:r>
          </a:p>
          <a:p>
            <a:r>
              <a:rPr lang="en-US" sz="1000" dirty="0"/>
              <a:t>parts that work best for you. Or don’t use it at all. I understand</a:t>
            </a:r>
          </a:p>
          <a:p>
            <a:r>
              <a:rPr lang="en-US" sz="1000" dirty="0"/>
              <a:t>that this won’t be everybody’s cup of tea. When it comes to web development,</a:t>
            </a:r>
          </a:p>
          <a:p>
            <a:r>
              <a:rPr lang="en-US" sz="1000" dirty="0"/>
              <a:t>the answer to most questions is “it depends”.</a:t>
            </a:r>
          </a:p>
          <a:p>
            <a:r>
              <a:rPr lang="en-US" sz="1000" dirty="0"/>
              <a:t> </a:t>
            </a:r>
          </a:p>
          <a:p>
            <a:r>
              <a:rPr lang="en-US" sz="1000" dirty="0"/>
              <a:t>I like to use a prefix to differentiate between Layout, State, and Module</a:t>
            </a:r>
          </a:p>
          <a:p>
            <a:r>
              <a:rPr lang="en-US" sz="1000" dirty="0"/>
              <a:t>rules. For Layout, I use l- but layout- would work just as</a:t>
            </a:r>
          </a:p>
          <a:p>
            <a:r>
              <a:rPr lang="en-US" sz="1000" dirty="0"/>
              <a:t>well. Using prefixes like grid- also provide enough clarity to separate</a:t>
            </a:r>
          </a:p>
          <a:p>
            <a:r>
              <a:rPr lang="en-US" sz="1000" dirty="0"/>
              <a:t>layout styles from other styles. For State rules, I like is- as in</a:t>
            </a:r>
          </a:p>
          <a:p>
            <a:r>
              <a:rPr lang="en-US" sz="1000" dirty="0"/>
              <a:t>is-hidden or is-collapsed. This helps describe things in a very</a:t>
            </a:r>
          </a:p>
          <a:p>
            <a:r>
              <a:rPr lang="en-US" sz="1000" dirty="0"/>
              <a:t>readable way.</a:t>
            </a:r>
          </a:p>
          <a:p>
            <a:r>
              <a:rPr lang="en-US" sz="1000" dirty="0"/>
              <a:t>Modules are going to be the bulk of any project. As a result, having</a:t>
            </a:r>
          </a:p>
          <a:p>
            <a:r>
              <a:rPr lang="en-US" sz="1000" dirty="0"/>
              <a:t>every module start with a prefix like .module- would be needlessly</a:t>
            </a:r>
          </a:p>
          <a:p>
            <a:r>
              <a:rPr lang="en-US" sz="1000" dirty="0"/>
              <a:t>verbose. Modules just use the name of the module itself.</a:t>
            </a:r>
          </a:p>
        </p:txBody>
      </p:sp>
      <p:sp>
        <p:nvSpPr>
          <p:cNvPr id="51" name="Text Placeholder 13"/>
          <p:cNvSpPr txBox="1">
            <a:spLocks/>
          </p:cNvSpPr>
          <p:nvPr/>
        </p:nvSpPr>
        <p:spPr>
          <a:xfrm>
            <a:off x="540251" y="1038806"/>
            <a:ext cx="3166884" cy="3587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 err="1" smtClean="0">
                <a:solidFill>
                  <a:schemeClr val="tx2"/>
                </a:solidFill>
                <a:latin typeface="+mj-lt"/>
              </a:rPr>
              <a:t>Smacss</a:t>
            </a:r>
            <a:endParaRPr lang="uk-UA" sz="1400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597799" y="1326838"/>
            <a:ext cx="3095576" cy="45719"/>
            <a:chOff x="5364088" y="2016000"/>
            <a:chExt cx="3168352" cy="41101"/>
          </a:xfrm>
        </p:grpSpPr>
        <p:cxnSp>
          <p:nvCxnSpPr>
            <p:cNvPr id="53" name="Straight Connector 52"/>
            <p:cNvCxnSpPr/>
            <p:nvPr/>
          </p:nvCxnSpPr>
          <p:spPr>
            <a:xfrm>
              <a:off x="5364088" y="2016000"/>
              <a:ext cx="3168352" cy="0"/>
            </a:xfrm>
            <a:prstGeom prst="line">
              <a:avLst/>
            </a:prstGeom>
            <a:ln w="3175" cmpd="sng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5364088" y="2057101"/>
              <a:ext cx="3168352" cy="0"/>
            </a:xfrm>
            <a:prstGeom prst="line">
              <a:avLst/>
            </a:prstGeom>
            <a:ln w="3175" cmpd="sng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itle 34"/>
          <p:cNvSpPr>
            <a:spLocks noGrp="1"/>
          </p:cNvSpPr>
          <p:nvPr>
            <p:ph type="title"/>
          </p:nvPr>
        </p:nvSpPr>
        <p:spPr>
          <a:xfrm>
            <a:off x="457200" y="205979"/>
            <a:ext cx="8363272" cy="61288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SMACSS</a:t>
            </a:r>
            <a:r>
              <a:rPr lang="en-US" b="1" dirty="0"/>
              <a:t> 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56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57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3380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3</a:t>
            </a:fld>
            <a:endParaRPr lang="uk-UA"/>
          </a:p>
        </p:txBody>
      </p:sp>
      <p:sp>
        <p:nvSpPr>
          <p:cNvPr id="26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7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15" name="Rectangle 14"/>
          <p:cNvSpPr/>
          <p:nvPr/>
        </p:nvSpPr>
        <p:spPr>
          <a:xfrm>
            <a:off x="539552" y="1195194"/>
            <a:ext cx="3960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Avoid element selectors</a:t>
            </a:r>
            <a:endParaRPr lang="en-US" dirty="0"/>
          </a:p>
        </p:txBody>
      </p:sp>
      <p:sp>
        <p:nvSpPr>
          <p:cNvPr id="16" name="Freeform 491"/>
          <p:cNvSpPr>
            <a:spLocks/>
          </p:cNvSpPr>
          <p:nvPr/>
        </p:nvSpPr>
        <p:spPr bwMode="auto">
          <a:xfrm>
            <a:off x="307888" y="1301361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4048" y="987574"/>
            <a:ext cx="39604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sp>
        <p:nvSpPr>
          <p:cNvPr id="21" name="Rectangle 20"/>
          <p:cNvSpPr/>
          <p:nvPr/>
        </p:nvSpPr>
        <p:spPr>
          <a:xfrm>
            <a:off x="504309" y="1491630"/>
            <a:ext cx="413452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Use child or descendant selectors with element selectors if the element</a:t>
            </a:r>
          </a:p>
          <a:p>
            <a:r>
              <a:rPr lang="en-US" sz="1000" dirty="0"/>
              <a:t>selectors will and can be predictable. Using .module span is</a:t>
            </a:r>
          </a:p>
          <a:p>
            <a:r>
              <a:rPr lang="en-US" sz="1000" dirty="0"/>
              <a:t>great if a span will predictably be used and styled the same way</a:t>
            </a:r>
          </a:p>
          <a:p>
            <a:r>
              <a:rPr lang="en-US" sz="1000" dirty="0"/>
              <a:t>every time while within that module.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03798"/>
            <a:ext cx="42672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467544" y="2571750"/>
            <a:ext cx="3960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Exemple</a:t>
            </a:r>
            <a:r>
              <a:rPr lang="en-US" b="1" dirty="0" smtClean="0"/>
              <a:t>: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319" y="1002309"/>
            <a:ext cx="4394169" cy="344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itle 34"/>
          <p:cNvSpPr txBox="1">
            <a:spLocks/>
          </p:cNvSpPr>
          <p:nvPr/>
        </p:nvSpPr>
        <p:spPr>
          <a:xfrm>
            <a:off x="457200" y="205979"/>
            <a:ext cx="8363272" cy="6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SMACSS </a:t>
            </a:r>
            <a:endParaRPr lang="uk-UA" b="1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60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4</a:t>
            </a:fld>
            <a:endParaRPr lang="uk-UA"/>
          </a:p>
        </p:txBody>
      </p:sp>
      <p:sp>
        <p:nvSpPr>
          <p:cNvPr id="19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6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10" name="Title 34"/>
          <p:cNvSpPr txBox="1">
            <a:spLocks/>
          </p:cNvSpPr>
          <p:nvPr/>
        </p:nvSpPr>
        <p:spPr>
          <a:xfrm>
            <a:off x="457200" y="205979"/>
            <a:ext cx="8363272" cy="6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SMACSS 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9552" y="1195194"/>
            <a:ext cx="5904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separate </a:t>
            </a:r>
            <a:r>
              <a:rPr lang="en-US" b="1" dirty="0" err="1"/>
              <a:t>s</a:t>
            </a:r>
            <a:r>
              <a:rPr lang="en-US" b="1" dirty="0" err="1" smtClean="0"/>
              <a:t>css</a:t>
            </a:r>
            <a:r>
              <a:rPr lang="en-US" b="1" dirty="0" smtClean="0"/>
              <a:t> </a:t>
            </a:r>
            <a:r>
              <a:rPr lang="en-US" b="1" dirty="0"/>
              <a:t>files for colors, fonts and architect</a:t>
            </a:r>
            <a:endParaRPr lang="en-US" dirty="0"/>
          </a:p>
        </p:txBody>
      </p:sp>
      <p:sp>
        <p:nvSpPr>
          <p:cNvPr id="12" name="Freeform 491"/>
          <p:cNvSpPr>
            <a:spLocks/>
          </p:cNvSpPr>
          <p:nvPr/>
        </p:nvSpPr>
        <p:spPr bwMode="auto">
          <a:xfrm>
            <a:off x="307888" y="1301361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4309" y="1491630"/>
            <a:ext cx="413452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/>
              <a:t>Very helpful when you building big enterprise app with a lots of functionality like color themes control and fonts change in the settings of our app</a:t>
            </a:r>
            <a:endParaRPr lang="en-US" sz="1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3" y="2055753"/>
            <a:ext cx="4248471" cy="2593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5144814" y="1568735"/>
            <a:ext cx="365415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:</a:t>
            </a:r>
            <a:r>
              <a:rPr lang="en-US" sz="1400" b="1" dirty="0" smtClean="0"/>
              <a:t>host-context()</a:t>
            </a:r>
          </a:p>
          <a:p>
            <a:endParaRPr lang="en-US" sz="1400" b="1" dirty="0"/>
          </a:p>
          <a:p>
            <a:r>
              <a:rPr lang="en-US" sz="1100" dirty="0"/>
              <a:t>Sometimes it's useful to apply styles based on some condition </a:t>
            </a:r>
            <a:r>
              <a:rPr lang="en-US" sz="1100" i="1" dirty="0"/>
              <a:t>outside</a:t>
            </a:r>
            <a:r>
              <a:rPr lang="en-US" sz="1100" dirty="0"/>
              <a:t> of a component's view. For example, a CSS theme class could be applied to the document &lt;body&gt; element, and you want to change how your component looks based on that</a:t>
            </a:r>
            <a:r>
              <a:rPr lang="en-US" sz="1100" dirty="0" smtClean="0"/>
              <a:t>.</a:t>
            </a:r>
          </a:p>
          <a:p>
            <a:endParaRPr lang="en-US" sz="1100" dirty="0"/>
          </a:p>
          <a:p>
            <a:r>
              <a:rPr lang="en-US" sz="1100" dirty="0"/>
              <a:t>Use the :host-context() pseudo-class selector, which works just like the function form of :</a:t>
            </a:r>
            <a:r>
              <a:rPr lang="en-US" sz="1100" dirty="0">
                <a:hlinkClick r:id="rId4"/>
              </a:rPr>
              <a:t>host</a:t>
            </a:r>
            <a:r>
              <a:rPr lang="en-US" sz="1100" dirty="0"/>
              <a:t>(). The :host-context() selector looks for a CSS class in any ancestor of the component host element, up to the document root. The :host-context() selector is useful when combined with another selector</a:t>
            </a:r>
            <a:r>
              <a:rPr lang="en-US" sz="1100" dirty="0" smtClean="0"/>
              <a:t>.</a:t>
            </a:r>
          </a:p>
          <a:p>
            <a:endParaRPr lang="en-US" sz="1100" dirty="0"/>
          </a:p>
          <a:p>
            <a:r>
              <a:rPr lang="en-US" sz="1100" dirty="0"/>
              <a:t>The following example applies a background-color style to all &lt;h2&gt; elements </a:t>
            </a:r>
            <a:r>
              <a:rPr lang="en-US" sz="1100" i="1" dirty="0"/>
              <a:t>inside</a:t>
            </a:r>
            <a:r>
              <a:rPr lang="en-US" sz="1100" dirty="0"/>
              <a:t> the component, only if some ancestor element has the CSS class theme-light</a:t>
            </a:r>
            <a:r>
              <a:rPr lang="en-US" sz="1100" dirty="0" smtClean="0"/>
              <a:t>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5609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5</a:t>
            </a:fld>
            <a:endParaRPr lang="uk-UA"/>
          </a:p>
        </p:txBody>
      </p:sp>
      <p:sp>
        <p:nvSpPr>
          <p:cNvPr id="19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6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9" name="Title 34"/>
          <p:cNvSpPr txBox="1">
            <a:spLocks/>
          </p:cNvSpPr>
          <p:nvPr/>
        </p:nvSpPr>
        <p:spPr>
          <a:xfrm>
            <a:off x="457200" y="205979"/>
            <a:ext cx="8363272" cy="6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BEM 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9512" y="1131590"/>
            <a:ext cx="3312368" cy="3528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</a:t>
            </a:r>
          </a:p>
          <a:p>
            <a:r>
              <a:rPr lang="en-US" dirty="0" smtClean="0"/>
              <a:t>Encapsulates a standalone entity that is meaningful on its own. While blocks can be nested and interact with each other, semantically they remain equal; there is no precedence or hierarchy. Holistic entities without DOM representation (such as controllers or models) can be blocks as well.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498478" y="1131590"/>
            <a:ext cx="280171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Element</a:t>
            </a:r>
          </a:p>
          <a:p>
            <a:r>
              <a:rPr lang="en-US" dirty="0"/>
              <a:t>Parts of a block and have no standalone meaning. Any element is semantically tied to its block.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72200" y="1131590"/>
            <a:ext cx="25020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Modifier</a:t>
            </a:r>
          </a:p>
          <a:p>
            <a:r>
              <a:rPr lang="en-US" dirty="0"/>
              <a:t>Flags on blocks or elements. Use them to change appearance, behavior or state.</a:t>
            </a:r>
          </a:p>
        </p:txBody>
      </p:sp>
    </p:spTree>
    <p:extLst>
      <p:ext uri="{BB962C8B-B14F-4D97-AF65-F5344CB8AC3E}">
        <p14:creationId xmlns:p14="http://schemas.microsoft.com/office/powerpoint/2010/main" val="357583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6</a:t>
            </a:fld>
            <a:endParaRPr lang="uk-UA"/>
          </a:p>
        </p:txBody>
      </p:sp>
      <p:sp>
        <p:nvSpPr>
          <p:cNvPr id="19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6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9" name="Title 34"/>
          <p:cNvSpPr txBox="1">
            <a:spLocks/>
          </p:cNvSpPr>
          <p:nvPr/>
        </p:nvSpPr>
        <p:spPr>
          <a:xfrm>
            <a:off x="457200" y="205979"/>
            <a:ext cx="8363272" cy="6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BEM 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0364" y="1131590"/>
            <a:ext cx="849694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Naming</a:t>
            </a:r>
          </a:p>
          <a:p>
            <a:r>
              <a:rPr lang="en-US" sz="1200" dirty="0"/>
              <a:t>Block names may consist of Latin letters, digits, and dashes. To form a CSS class, add a short prefix for </a:t>
            </a:r>
            <a:r>
              <a:rPr lang="en-US" sz="1200" dirty="0" err="1"/>
              <a:t>namespacing</a:t>
            </a:r>
            <a:r>
              <a:rPr lang="en-US" sz="1200" dirty="0"/>
              <a:t>: .block</a:t>
            </a:r>
          </a:p>
          <a:p>
            <a:endParaRPr lang="en-US" sz="1200" dirty="0"/>
          </a:p>
          <a:p>
            <a:r>
              <a:rPr lang="en-US" sz="1200" dirty="0"/>
              <a:t>HTML</a:t>
            </a:r>
          </a:p>
          <a:p>
            <a:r>
              <a:rPr lang="en-US" sz="1200" dirty="0"/>
              <a:t>Any DOM node can be a block if it accepts a class name.</a:t>
            </a:r>
          </a:p>
          <a:p>
            <a:r>
              <a:rPr lang="en-US" sz="1200" dirty="0"/>
              <a:t>&lt;div class="block"&gt;...&lt;/div&gt;</a:t>
            </a:r>
          </a:p>
          <a:p>
            <a:endParaRPr lang="en-US" sz="1200" dirty="0"/>
          </a:p>
          <a:p>
            <a:r>
              <a:rPr lang="en-US" sz="1200" dirty="0"/>
              <a:t>CSS</a:t>
            </a:r>
          </a:p>
          <a:p>
            <a:r>
              <a:rPr lang="en-US" sz="1200" dirty="0"/>
              <a:t>Use class name selector only</a:t>
            </a:r>
          </a:p>
          <a:p>
            <a:r>
              <a:rPr lang="en-US" sz="1200" dirty="0"/>
              <a:t>No tag name or ids</a:t>
            </a:r>
          </a:p>
          <a:p>
            <a:r>
              <a:rPr lang="en-US" sz="1200" dirty="0"/>
              <a:t>No dependency on other blocks/elements on a </a:t>
            </a:r>
            <a:r>
              <a:rPr lang="en-US" sz="1200" dirty="0" smtClean="0"/>
              <a:t>page</a:t>
            </a:r>
          </a:p>
          <a:p>
            <a:endParaRPr lang="en-US" sz="1200" dirty="0"/>
          </a:p>
          <a:p>
            <a:r>
              <a:rPr lang="en-US" sz="1200" dirty="0"/>
              <a:t>.block { color: #042; }</a:t>
            </a:r>
          </a:p>
        </p:txBody>
      </p:sp>
    </p:spTree>
    <p:extLst>
      <p:ext uri="{BB962C8B-B14F-4D97-AF65-F5344CB8AC3E}">
        <p14:creationId xmlns:p14="http://schemas.microsoft.com/office/powerpoint/2010/main" val="278314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7</a:t>
            </a:fld>
            <a:endParaRPr lang="uk-UA"/>
          </a:p>
        </p:txBody>
      </p:sp>
      <p:sp>
        <p:nvSpPr>
          <p:cNvPr id="19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6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9" name="Title 34"/>
          <p:cNvSpPr txBox="1">
            <a:spLocks/>
          </p:cNvSpPr>
          <p:nvPr/>
        </p:nvSpPr>
        <p:spPr>
          <a:xfrm>
            <a:off x="457200" y="205979"/>
            <a:ext cx="8363272" cy="6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BEM 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3528" y="1059582"/>
            <a:ext cx="4315308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Element</a:t>
            </a:r>
          </a:p>
          <a:p>
            <a:endParaRPr lang="en-US" sz="1000" dirty="0"/>
          </a:p>
          <a:p>
            <a:r>
              <a:rPr lang="en-US" sz="1000" dirty="0"/>
              <a:t>Naming</a:t>
            </a:r>
          </a:p>
          <a:p>
            <a:r>
              <a:rPr lang="en-US" sz="1000" dirty="0"/>
              <a:t>Element names may consist of Latin letters, digits, dashes and underscores. CSS class is formed as block name plus two underscores plus element name: .block__</a:t>
            </a:r>
            <a:r>
              <a:rPr lang="en-US" sz="1000" dirty="0" err="1"/>
              <a:t>elem</a:t>
            </a:r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r>
              <a:rPr lang="en-US" sz="1100" b="1" dirty="0" smtClean="0"/>
              <a:t>HTML</a:t>
            </a:r>
          </a:p>
          <a:p>
            <a:endParaRPr lang="en-US" sz="1000" b="1" dirty="0"/>
          </a:p>
          <a:p>
            <a:r>
              <a:rPr lang="en-US" sz="1000" dirty="0"/>
              <a:t>Any DOM node within a block can be an element. Within a given block, all elements are semantically equal.</a:t>
            </a:r>
          </a:p>
          <a:p>
            <a:endParaRPr lang="en-US" sz="1000" dirty="0"/>
          </a:p>
          <a:p>
            <a:r>
              <a:rPr lang="en-US" sz="1000" dirty="0"/>
              <a:t>&lt;div class="block"&gt;</a:t>
            </a:r>
          </a:p>
          <a:p>
            <a:r>
              <a:rPr lang="en-US" sz="1000" dirty="0"/>
              <a:t>	  ...</a:t>
            </a:r>
          </a:p>
          <a:p>
            <a:r>
              <a:rPr lang="en-US" sz="1000" dirty="0"/>
              <a:t>	  &lt;span class="block__</a:t>
            </a:r>
            <a:r>
              <a:rPr lang="en-US" sz="1000" dirty="0" err="1"/>
              <a:t>elem</a:t>
            </a:r>
            <a:r>
              <a:rPr lang="en-US" sz="1000" dirty="0"/>
              <a:t>"&gt;&lt;/span&gt;</a:t>
            </a:r>
          </a:p>
          <a:p>
            <a:r>
              <a:rPr lang="en-US" sz="1000" dirty="0"/>
              <a:t>	&lt;/div</a:t>
            </a:r>
            <a:r>
              <a:rPr lang="en-US" sz="1000" dirty="0" smtClean="0"/>
              <a:t>&gt;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3" name="Rectangle 2"/>
          <p:cNvSpPr/>
          <p:nvPr/>
        </p:nvSpPr>
        <p:spPr>
          <a:xfrm>
            <a:off x="4716016" y="1419622"/>
            <a:ext cx="421196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/>
              <a:t>CSS</a:t>
            </a:r>
            <a:endParaRPr lang="en-US" sz="1400" b="1" dirty="0" smtClean="0"/>
          </a:p>
          <a:p>
            <a:endParaRPr lang="en-US" sz="1400" dirty="0"/>
          </a:p>
          <a:p>
            <a:r>
              <a:rPr lang="en-US" sz="1400" dirty="0"/>
              <a:t>Use class name selector only</a:t>
            </a:r>
          </a:p>
          <a:p>
            <a:r>
              <a:rPr lang="en-US" sz="1400" dirty="0"/>
              <a:t>No tag name or ids</a:t>
            </a:r>
          </a:p>
          <a:p>
            <a:r>
              <a:rPr lang="en-US" sz="1400" dirty="0"/>
              <a:t>No dependency on other blocks/elements on a </a:t>
            </a:r>
            <a:r>
              <a:rPr lang="en-US" sz="1400" dirty="0" smtClean="0"/>
              <a:t>page</a:t>
            </a:r>
          </a:p>
          <a:p>
            <a:endParaRPr lang="en-US" sz="1400" dirty="0"/>
          </a:p>
          <a:p>
            <a:r>
              <a:rPr lang="en-US" sz="1400" b="1" dirty="0"/>
              <a:t>Good</a:t>
            </a:r>
          </a:p>
          <a:p>
            <a:r>
              <a:rPr lang="en-US" sz="1400" dirty="0"/>
              <a:t>.block__</a:t>
            </a:r>
            <a:r>
              <a:rPr lang="en-US" sz="1400" dirty="0" err="1"/>
              <a:t>elem</a:t>
            </a:r>
            <a:r>
              <a:rPr lang="en-US" sz="1400" dirty="0"/>
              <a:t> { color: #042; </a:t>
            </a:r>
            <a:r>
              <a:rPr lang="en-US" sz="1400" dirty="0" smtClean="0"/>
              <a:t>}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Bad</a:t>
            </a:r>
          </a:p>
          <a:p>
            <a:r>
              <a:rPr lang="en-US" sz="1400" dirty="0"/>
              <a:t>.block .block__</a:t>
            </a:r>
            <a:r>
              <a:rPr lang="en-US" sz="1400" dirty="0" err="1"/>
              <a:t>elem</a:t>
            </a:r>
            <a:r>
              <a:rPr lang="en-US" sz="1400" dirty="0"/>
              <a:t> { color: #042; }</a:t>
            </a:r>
          </a:p>
          <a:p>
            <a:r>
              <a:rPr lang="en-US" sz="1400" dirty="0"/>
              <a:t>	div.block__</a:t>
            </a:r>
            <a:r>
              <a:rPr lang="en-US" sz="1400" dirty="0" err="1"/>
              <a:t>elem</a:t>
            </a:r>
            <a:r>
              <a:rPr lang="en-US" sz="1400" dirty="0"/>
              <a:t> { color: #042; }</a:t>
            </a: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278314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8</a:t>
            </a:fld>
            <a:endParaRPr lang="uk-UA"/>
          </a:p>
        </p:txBody>
      </p:sp>
      <p:sp>
        <p:nvSpPr>
          <p:cNvPr id="19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6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9" name="Title 34"/>
          <p:cNvSpPr txBox="1">
            <a:spLocks/>
          </p:cNvSpPr>
          <p:nvPr/>
        </p:nvSpPr>
        <p:spPr>
          <a:xfrm>
            <a:off x="457200" y="205979"/>
            <a:ext cx="8363272" cy="6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BEM 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7828" y="915566"/>
            <a:ext cx="432048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Modifier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/>
              <a:t>Naming</a:t>
            </a:r>
          </a:p>
          <a:p>
            <a:r>
              <a:rPr lang="en-US" sz="1050" dirty="0"/>
              <a:t>Modifier names may consist of Latin letters, digits, dashes and underscores. CSS class is formed as block’s or element’s name plus two dashes: .block--mod or .block__</a:t>
            </a:r>
            <a:r>
              <a:rPr lang="en-US" sz="1050" dirty="0" err="1"/>
              <a:t>elem</a:t>
            </a:r>
            <a:r>
              <a:rPr lang="en-US" sz="1050" dirty="0"/>
              <a:t>--mod and .block--color-black with .block--color-red. Spaces in complicated modifiers are replaced by dash.</a:t>
            </a:r>
          </a:p>
          <a:p>
            <a:endParaRPr lang="en-US" sz="1050" dirty="0" smtClean="0"/>
          </a:p>
          <a:p>
            <a:endParaRPr lang="en-US" sz="1050" dirty="0"/>
          </a:p>
          <a:p>
            <a:r>
              <a:rPr lang="en-US" sz="1200" b="1" dirty="0" smtClean="0"/>
              <a:t>HTML</a:t>
            </a:r>
          </a:p>
          <a:p>
            <a:endParaRPr lang="en-US" sz="1050" dirty="0"/>
          </a:p>
          <a:p>
            <a:r>
              <a:rPr lang="en-US" sz="1050" dirty="0"/>
              <a:t>Modifier is an extra class name which you add to a block/element DOM node. Add modifier classes only to blocks/elements they modify, and keep the original class:</a:t>
            </a:r>
          </a:p>
          <a:p>
            <a:endParaRPr lang="en-US" sz="1050" dirty="0"/>
          </a:p>
          <a:p>
            <a:r>
              <a:rPr lang="en-US" sz="1050" b="1" dirty="0"/>
              <a:t>Good</a:t>
            </a:r>
          </a:p>
          <a:p>
            <a:r>
              <a:rPr lang="en-US" sz="1050" dirty="0"/>
              <a:t>&lt;div class="block block--mod"&gt;...&lt;/div&gt;</a:t>
            </a:r>
          </a:p>
          <a:p>
            <a:r>
              <a:rPr lang="en-US" sz="1050" dirty="0"/>
              <a:t>	&lt;div class="block block--size-big</a:t>
            </a:r>
          </a:p>
          <a:p>
            <a:r>
              <a:rPr lang="en-US" sz="1050" dirty="0"/>
              <a:t>		block--shadow-yes"&gt;...&lt;/div&gt;</a:t>
            </a:r>
          </a:p>
          <a:p>
            <a:r>
              <a:rPr lang="en-US" sz="1050" b="1" dirty="0"/>
              <a:t>Bad</a:t>
            </a:r>
          </a:p>
          <a:p>
            <a:r>
              <a:rPr lang="en-US" sz="1050" dirty="0"/>
              <a:t>&lt;div class="block--mod"&gt;...&lt;/div</a:t>
            </a:r>
            <a:r>
              <a:rPr lang="en-US" sz="1050" dirty="0" smtClean="0"/>
              <a:t>&gt;</a:t>
            </a:r>
            <a:endParaRPr lang="en-US" sz="1050" dirty="0"/>
          </a:p>
        </p:txBody>
      </p:sp>
      <p:sp>
        <p:nvSpPr>
          <p:cNvPr id="3" name="Rectangle 2"/>
          <p:cNvSpPr/>
          <p:nvPr/>
        </p:nvSpPr>
        <p:spPr>
          <a:xfrm>
            <a:off x="4716016" y="1203598"/>
            <a:ext cx="4104456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CSS</a:t>
            </a:r>
          </a:p>
          <a:p>
            <a:endParaRPr lang="en-US" sz="1400" dirty="0"/>
          </a:p>
          <a:p>
            <a:r>
              <a:rPr lang="en-US" sz="1050" dirty="0"/>
              <a:t>Use modifier class name as selector</a:t>
            </a:r>
            <a:r>
              <a:rPr lang="en-US" sz="1050" dirty="0" smtClean="0"/>
              <a:t>:</a:t>
            </a:r>
            <a:endParaRPr lang="en-US" sz="1050" dirty="0"/>
          </a:p>
          <a:p>
            <a:r>
              <a:rPr lang="en-US" sz="1050" dirty="0"/>
              <a:t>.block--hidden { </a:t>
            </a:r>
            <a:r>
              <a:rPr lang="en-US" sz="1050" dirty="0" smtClean="0"/>
              <a:t>}</a:t>
            </a:r>
          </a:p>
          <a:p>
            <a:endParaRPr lang="en-US" sz="1050" dirty="0" smtClean="0"/>
          </a:p>
          <a:p>
            <a:endParaRPr lang="en-US" sz="1050" dirty="0"/>
          </a:p>
          <a:p>
            <a:r>
              <a:rPr lang="en-US" sz="1050" dirty="0"/>
              <a:t>To alter elements based on a block-level modifier</a:t>
            </a:r>
            <a:r>
              <a:rPr lang="en-US" sz="1050" dirty="0" smtClean="0"/>
              <a:t>:</a:t>
            </a:r>
            <a:endParaRPr lang="en-US" sz="1050" dirty="0"/>
          </a:p>
          <a:p>
            <a:r>
              <a:rPr lang="en-US" sz="1050" dirty="0"/>
              <a:t>.block--mod .block__</a:t>
            </a:r>
            <a:r>
              <a:rPr lang="en-US" sz="1050" dirty="0" err="1"/>
              <a:t>elem</a:t>
            </a:r>
            <a:r>
              <a:rPr lang="en-US" sz="1050" dirty="0"/>
              <a:t> { </a:t>
            </a:r>
            <a:r>
              <a:rPr lang="en-US" sz="1050" dirty="0" smtClean="0"/>
              <a:t>}</a:t>
            </a:r>
          </a:p>
          <a:p>
            <a:endParaRPr lang="en-US" sz="1050" dirty="0" smtClean="0"/>
          </a:p>
          <a:p>
            <a:endParaRPr lang="en-US" sz="1050" dirty="0"/>
          </a:p>
          <a:p>
            <a:r>
              <a:rPr lang="en-US" sz="1050" dirty="0"/>
              <a:t>Element modifier</a:t>
            </a:r>
            <a:r>
              <a:rPr lang="en-US" sz="1050" dirty="0" smtClean="0"/>
              <a:t>:</a:t>
            </a:r>
            <a:endParaRPr lang="en-US" sz="1050" dirty="0"/>
          </a:p>
          <a:p>
            <a:r>
              <a:rPr lang="en-US" sz="1050" dirty="0"/>
              <a:t>.block__</a:t>
            </a:r>
            <a:r>
              <a:rPr lang="en-US" sz="1050" dirty="0" err="1"/>
              <a:t>elem</a:t>
            </a:r>
            <a:r>
              <a:rPr lang="en-US" sz="1050" dirty="0"/>
              <a:t>--mod { }</a:t>
            </a:r>
            <a:endParaRPr lang="he-IL" sz="1050" dirty="0"/>
          </a:p>
        </p:txBody>
      </p:sp>
    </p:spTree>
    <p:extLst>
      <p:ext uri="{BB962C8B-B14F-4D97-AF65-F5344CB8AC3E}">
        <p14:creationId xmlns:p14="http://schemas.microsoft.com/office/powerpoint/2010/main" val="278314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9</a:t>
            </a:fld>
            <a:endParaRPr lang="uk-UA"/>
          </a:p>
        </p:txBody>
      </p:sp>
      <p:sp>
        <p:nvSpPr>
          <p:cNvPr id="19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6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9" name="Title 34"/>
          <p:cNvSpPr txBox="1">
            <a:spLocks/>
          </p:cNvSpPr>
          <p:nvPr/>
        </p:nvSpPr>
        <p:spPr>
          <a:xfrm>
            <a:off x="457200" y="205979"/>
            <a:ext cx="8363272" cy="6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BEM </a:t>
            </a:r>
            <a:endParaRPr lang="uk-UA" b="1" dirty="0">
              <a:latin typeface="+mn-lt"/>
              <a:cs typeface="+mn-cs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059582"/>
            <a:ext cx="2016820" cy="3539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355726"/>
            <a:ext cx="5580112" cy="75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251520" y="1073676"/>
            <a:ext cx="24482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Example 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511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AA">
      <a:dk1>
        <a:srgbClr val="323232"/>
      </a:dk1>
      <a:lt1>
        <a:srgbClr val="FFFFFF"/>
      </a:lt1>
      <a:dk2>
        <a:srgbClr val="323232"/>
      </a:dk2>
      <a:lt2>
        <a:srgbClr val="C0C0C0"/>
      </a:lt2>
      <a:accent1>
        <a:srgbClr val="9FCE4D"/>
      </a:accent1>
      <a:accent2>
        <a:srgbClr val="E9A922"/>
      </a:accent2>
      <a:accent3>
        <a:srgbClr val="67B9E1"/>
      </a:accent3>
      <a:accent4>
        <a:srgbClr val="F25859"/>
      </a:accent4>
      <a:accent5>
        <a:srgbClr val="A1A1AF"/>
      </a:accent5>
      <a:accent6>
        <a:srgbClr val="E673BA"/>
      </a:accent6>
      <a:hlink>
        <a:srgbClr val="4BACC6"/>
      </a:hlink>
      <a:folHlink>
        <a:srgbClr val="5F497A"/>
      </a:folHlink>
    </a:clrScheme>
    <a:fontScheme name="A">
      <a:majorFont>
        <a:latin typeface="Georgia"/>
        <a:ea typeface=""/>
        <a:cs typeface=""/>
      </a:majorFont>
      <a:minorFont>
        <a:latin typeface="Roboto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2707</TotalTime>
  <Words>763</Words>
  <Application>Microsoft Office PowerPoint</Application>
  <PresentationFormat>On-screen Show (16:9)</PresentationFormat>
  <Paragraphs>160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BEM &amp; SMACSS </vt:lpstr>
      <vt:lpstr>SMACSS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</dc:creator>
  <cp:lastModifiedBy>Nir Zigdon</cp:lastModifiedBy>
  <cp:revision>227</cp:revision>
  <dcterms:created xsi:type="dcterms:W3CDTF">2014-09-29T08:45:48Z</dcterms:created>
  <dcterms:modified xsi:type="dcterms:W3CDTF">2018-06-23T14:52:06Z</dcterms:modified>
</cp:coreProperties>
</file>